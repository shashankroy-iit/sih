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promise, not the title. 'In a flood, a survivor on a rooftop has about an hour before hypothermia or the water wins. Search teams cannot see her, GPS is unreliable and the network is down. SAHYOG is a drone that finds her by body heat — and the intelligence that does it flies on an ordinary Android phone.' Pause. Then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point 1. Do not rush this slide — the judges must feel the hour. 'Four numbers define our problem. Sixty minutes: after the golden hour, survival drops fast. Four to ten pixels: that is a human being in a thermal image from survey height — this is why naive AI fails. Zero: no network, no reliable GPS, no roads. And three lakh rupees: what the usual thermal-plus-computer payload costs per aircraft. We attack all four.'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judges lean in. 'Two facts drive every design decision we made. First: at survey altitude a survivor is smaller than one grid cell of a standard detector — we measured 0.0009 mAP, effectively blind. One architecture change, a stride-4 head, took it to 0.234. Second: the most expensive subsystem in every competitor's budget is already in every rescuer's pocket. We fly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point 2, the overview. Walk the diagram left to right in one breath: cameras → physics gates → neural detector → fusion → belief map → decision → LoRa → ground station. Emphasise the last line: nothing in the loop needs the internet. Then: 'Six capabilities, one airframe, and every model runs on the device.'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signature slide — spend a full minute here. 'Every team in this room will price a companion computer. We asked a different question: what does a drone need that a phone does not already have? The answer is nothing on this list. We measured it: 15 fps video, 30 Hz odometry, 69 milliseconds worst-case gap, link streaming — on a phone hanging off a USB cable. And because the phone's DSP is the same family as the Qualcomm board this problem statement targets, we train one model and deploy it twice.'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USP. 'Anyone can bolt a YOLO onto a drone. Ours cannot lie: every detection passes three physics gates before it becomes a report — is the temperature a body's, is the footprint a body's, and at 22 metres, is it still there? That is why our measured precision is 1.000 while a detector without the gates produced a false alarm every sixth frame. In rescue, a false alarm is not an error metric — it is a team climbing the wrong rooftop.'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forty seconds. Left: the search is planned so that coverage is provable — lane spacing comes from the sensor swath and a detection-probability target. Right: what the detector actually sees, thermal and RGB side by side with its boxes. Mention the honest ceiling: published aerial-thermal mAP50 tops out near 0.55; we quote it instead of inventing 0.95.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'Floods take GPS and the network first. So neither is load-bearing. Navigation falls back to visual-inertial odometry from the phone plus lidar, and the autopilot's EKF is told which source to trust, live. Reports go out as 200-byte verified packets over LoRa — store, forward, acknowledge. A saturated link means fewer reports. It never means silence.'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seconds. 'Finding her is half. The drone drops flotation on a confirmed survivor, and in the same packet the ground team gets an A* route across the hazard field to reach her. And above all of it sits a safety supervisor with twelve ways to say no — because a rescue drone that crashes into a crowd has added to the disaster.'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point 6 — slow down here. 'We are not showing you a diagram of what we will build. One hundred eighty tests pass. Precision 1.000 is measured, not claimed. The phone bench ran on a real phone. The INT8 exports sit behind a gate that refuses them if they lose recall. And when something is not done — field flights — we say so on the slide.' Judges reward the team that knows exactly where its own truth ends.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point 3. 'Nothing here is invented. Every line is a part you can order this week, and every line has a measured number next to it — hover power we measure on our airframe, not from a datasheet. And the design rule that makes it feasible: every layer has a fallback, so a missing component degrades the mission instead of ending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3 continued. Thirty-second roadmap with named risks — judges trust a team that has already thought about what will go wrong. Close with the open release: 'whatever we fly, the next team inherits.'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point 4. End on scale, not specs: 'India does not need one rescue drone. It needs one in every district control room — and that only happens at phone-money, not at research-money. Same airframe, same code, different disaster. And because it is Qualcomm silicon from the phone to the flight board, the ecosystem this problem statement wants is the ecosystem we already build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point 5 — fifteen seconds, names and ownership only. The line that lands: 'every claim on these slides traces to an artefact in our repository.' Then move; do not linger on yourselves.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 twenty seconds and stop talking. 'Three purchases and one permission. Everything else — the detectors, the physics gates, the phone bridge, the safety supervisor, the ground station — is in the repository and running on this laptop right now, if you would like to see it.' Then offer the demo. Silence is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24528"/>
            <a:ext cx="12191695" cy="45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60120"/>
            <a:ext cx="10607040" cy="365760"/>
          </a:xfrm>
          <a:prstGeom prst="rect">
            <a:avLst/>
          </a:prstGeom>
          <a:noFill/>
        </p:spPr>
        <p:txBody>
          <a:bodyPr wrap="square" anchor="t">
            <a:spAutoFit/>
          </a:bodyPr>
          <a:lstStyle/>
          <a:p>
            <a:pPr algn="l">
              <a:lnSpc>
                <a:spcPct val="100000"/>
              </a:lnSpc>
              <a:spcAft>
                <a:spcPts val="200"/>
              </a:spcAft>
            </a:pPr>
            <a:r>
              <a:rPr sz="1200" b="1">
                <a:solidFill>
                  <a:srgbClr val="22C55E"/>
                </a:solidFill>
                <a:latin typeface="Calibri"/>
              </a:rPr>
              <a:t>SMART INDIA HACKATHON 2026 · PROBLEM STATEMENT 26177 · QUALCOMM INC. · ROBOTICS &amp; DRONES</a:t>
            </a:r>
          </a:p>
        </p:txBody>
      </p:sp>
      <p:sp>
        <p:nvSpPr>
          <p:cNvPr id="5" name="TextBox 4"/>
          <p:cNvSpPr txBox="1"/>
          <p:nvPr/>
        </p:nvSpPr>
        <p:spPr>
          <a:xfrm>
            <a:off x="777240" y="1600200"/>
            <a:ext cx="10607040" cy="1463040"/>
          </a:xfrm>
          <a:prstGeom prst="rect">
            <a:avLst/>
          </a:prstGeom>
          <a:noFill/>
        </p:spPr>
        <p:txBody>
          <a:bodyPr wrap="square" anchor="t">
            <a:spAutoFit/>
          </a:bodyPr>
          <a:lstStyle/>
          <a:p>
            <a:pPr algn="l">
              <a:lnSpc>
                <a:spcPct val="100000"/>
              </a:lnSpc>
              <a:spcAft>
                <a:spcPts val="200"/>
              </a:spcAft>
            </a:pPr>
            <a:r>
              <a:rPr sz="6600" b="1">
                <a:solidFill>
                  <a:srgbClr val="E5EDF8"/>
                </a:solidFill>
                <a:latin typeface="Calibri"/>
              </a:rPr>
              <a:t>SAHYOG</a:t>
            </a:r>
          </a:p>
        </p:txBody>
      </p:sp>
      <p:sp>
        <p:nvSpPr>
          <p:cNvPr id="6" name="TextBox 5"/>
          <p:cNvSpPr txBox="1"/>
          <p:nvPr/>
        </p:nvSpPr>
        <p:spPr>
          <a:xfrm>
            <a:off x="777240" y="2788920"/>
            <a:ext cx="10424160" cy="1097280"/>
          </a:xfrm>
          <a:prstGeom prst="rect">
            <a:avLst/>
          </a:prstGeom>
          <a:noFill/>
        </p:spPr>
        <p:txBody>
          <a:bodyPr wrap="square" anchor="t">
            <a:spAutoFit/>
          </a:bodyPr>
          <a:lstStyle/>
          <a:p>
            <a:pPr algn="l">
              <a:lnSpc>
                <a:spcPct val="115000"/>
              </a:lnSpc>
              <a:spcAft>
                <a:spcPts val="200"/>
              </a:spcAft>
            </a:pPr>
            <a:r>
              <a:rPr sz="2600" b="1">
                <a:solidFill>
                  <a:srgbClr val="E5EDF8"/>
                </a:solidFill>
                <a:latin typeface="Calibri"/>
              </a:rPr>
              <a:t>The drone finds them by body heat.</a:t>
            </a:r>
          </a:p>
          <a:p>
            <a:pPr algn="l">
              <a:lnSpc>
                <a:spcPct val="115000"/>
              </a:lnSpc>
              <a:spcAft>
                <a:spcPts val="200"/>
              </a:spcAft>
            </a:pPr>
            <a:r>
              <a:rPr sz="2600" b="1">
                <a:solidFill>
                  <a:srgbClr val="38BDF8"/>
                </a:solidFill>
                <a:latin typeface="Calibri"/>
              </a:rPr>
              <a:t>The phone in your pocket flies the AI.</a:t>
            </a:r>
          </a:p>
        </p:txBody>
      </p:sp>
      <p:sp>
        <p:nvSpPr>
          <p:cNvPr id="7" name="TextBox 6"/>
          <p:cNvSpPr txBox="1"/>
          <p:nvPr/>
        </p:nvSpPr>
        <p:spPr>
          <a:xfrm>
            <a:off x="777240" y="4526280"/>
            <a:ext cx="10424160" cy="1097280"/>
          </a:xfrm>
          <a:prstGeom prst="rect">
            <a:avLst/>
          </a:prstGeom>
          <a:noFill/>
        </p:spPr>
        <p:txBody>
          <a:bodyPr wrap="square" anchor="t">
            <a:spAutoFit/>
          </a:bodyPr>
          <a:lstStyle/>
          <a:p>
            <a:pPr algn="l">
              <a:lnSpc>
                <a:spcPct val="100000"/>
              </a:lnSpc>
              <a:spcAft>
                <a:spcPts val="200"/>
              </a:spcAft>
            </a:pPr>
            <a:r>
              <a:rPr sz="1500" b="0">
                <a:solidFill>
                  <a:srgbClr val="8EA3C0"/>
                </a:solidFill>
                <a:latin typeface="Calibri"/>
              </a:rPr>
              <a:t>Autonomous aerial search-and-rescue: radiometric thermal detection, GPS-denied navigation and verified survivor reports — every model running on-device, on silicon India already carries.</a:t>
            </a:r>
          </a:p>
        </p:txBody>
      </p:sp>
      <p:sp>
        <p:nvSpPr>
          <p:cNvPr id="8" name="TextBox 7"/>
          <p:cNvSpPr txBox="1"/>
          <p:nvPr/>
        </p:nvSpPr>
        <p:spPr>
          <a:xfrm>
            <a:off x="777240" y="5989320"/>
            <a:ext cx="10424160" cy="365760"/>
          </a:xfrm>
          <a:prstGeom prst="rect">
            <a:avLst/>
          </a:prstGeom>
          <a:noFill/>
        </p:spPr>
        <p:txBody>
          <a:bodyPr wrap="square" anchor="t">
            <a:spAutoFit/>
          </a:bodyPr>
          <a:lstStyle/>
          <a:p>
            <a:pPr algn="l">
              <a:lnSpc>
                <a:spcPct val="100000"/>
              </a:lnSpc>
              <a:spcAft>
                <a:spcPts val="200"/>
              </a:spcAft>
            </a:pPr>
            <a:r>
              <a:rPr sz="1300" b="0">
                <a:solidFill>
                  <a:srgbClr val="8EA3C0"/>
                </a:solidFill>
                <a:latin typeface="Calibri"/>
              </a:rPr>
              <a:t>Team &lt;NAME&gt; · &lt;INSTITUTE&gt; · mentors: &lt;MENTOR&gt;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DC2626"/>
                </a:solidFill>
                <a:latin typeface="Calibri"/>
              </a:rPr>
              <a:t>1 · PROBLEM UNDERSTANDING</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Every hour lost in a disaster zone is paid in lives</a:t>
            </a:r>
          </a:p>
        </p:txBody>
      </p:sp>
      <p:sp>
        <p:nvSpPr>
          <p:cNvPr id="6" name="Rounded Rectangle 5"/>
          <p:cNvSpPr/>
          <p:nvPr/>
        </p:nvSpPr>
        <p:spPr>
          <a:xfrm>
            <a:off x="777240" y="1600200"/>
            <a:ext cx="2578608" cy="123444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00200"/>
            <a:ext cx="54864" cy="1234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709928"/>
            <a:ext cx="2304288" cy="566928"/>
          </a:xfrm>
          <a:prstGeom prst="rect">
            <a:avLst/>
          </a:prstGeom>
          <a:noFill/>
        </p:spPr>
        <p:txBody>
          <a:bodyPr wrap="square" anchor="t">
            <a:spAutoFit/>
          </a:bodyPr>
          <a:lstStyle/>
          <a:p>
            <a:pPr algn="l">
              <a:lnSpc>
                <a:spcPct val="100000"/>
              </a:lnSpc>
              <a:spcAft>
                <a:spcPts val="200"/>
              </a:spcAft>
            </a:pPr>
            <a:r>
              <a:rPr sz="2600" b="1">
                <a:solidFill>
                  <a:srgbClr val="DC2626"/>
                </a:solidFill>
                <a:latin typeface="Calibri"/>
              </a:rPr>
              <a:t>60 min</a:t>
            </a:r>
          </a:p>
        </p:txBody>
      </p:sp>
      <p:sp>
        <p:nvSpPr>
          <p:cNvPr id="9" name="TextBox 8"/>
          <p:cNvSpPr txBox="1"/>
          <p:nvPr/>
        </p:nvSpPr>
        <p:spPr>
          <a:xfrm>
            <a:off x="941832" y="2377440"/>
            <a:ext cx="23042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the golden hour after trauma — survival falls steeply after it</a:t>
            </a:r>
          </a:p>
        </p:txBody>
      </p:sp>
      <p:sp>
        <p:nvSpPr>
          <p:cNvPr id="10" name="Rounded Rectangle 9"/>
          <p:cNvSpPr/>
          <p:nvPr/>
        </p:nvSpPr>
        <p:spPr>
          <a:xfrm>
            <a:off x="3538728" y="1600200"/>
            <a:ext cx="2578608" cy="123444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38728" y="1600200"/>
            <a:ext cx="54864"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1709928"/>
            <a:ext cx="2304288" cy="566928"/>
          </a:xfrm>
          <a:prstGeom prst="rect">
            <a:avLst/>
          </a:prstGeom>
          <a:noFill/>
        </p:spPr>
        <p:txBody>
          <a:bodyPr wrap="square" anchor="t">
            <a:spAutoFit/>
          </a:bodyPr>
          <a:lstStyle/>
          <a:p>
            <a:pPr algn="l">
              <a:lnSpc>
                <a:spcPct val="100000"/>
              </a:lnSpc>
              <a:spcAft>
                <a:spcPts val="200"/>
              </a:spcAft>
            </a:pPr>
            <a:r>
              <a:rPr sz="2600" b="1">
                <a:solidFill>
                  <a:srgbClr val="F59E0B"/>
                </a:solidFill>
                <a:latin typeface="Calibri"/>
              </a:rPr>
              <a:t>4–10 px</a:t>
            </a:r>
          </a:p>
        </p:txBody>
      </p:sp>
      <p:sp>
        <p:nvSpPr>
          <p:cNvPr id="13" name="TextBox 12"/>
          <p:cNvSpPr txBox="1"/>
          <p:nvPr/>
        </p:nvSpPr>
        <p:spPr>
          <a:xfrm>
            <a:off x="3703320" y="2377440"/>
            <a:ext cx="23042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how big a survivor is in a thermal frame at survey altitude</a:t>
            </a:r>
          </a:p>
        </p:txBody>
      </p:sp>
      <p:sp>
        <p:nvSpPr>
          <p:cNvPr id="14" name="Rounded Rectangle 13"/>
          <p:cNvSpPr/>
          <p:nvPr/>
        </p:nvSpPr>
        <p:spPr>
          <a:xfrm>
            <a:off x="6300216" y="1600200"/>
            <a:ext cx="2578608" cy="123444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0216" y="1600200"/>
            <a:ext cx="54864" cy="1234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7" y="1709928"/>
            <a:ext cx="2304288" cy="566928"/>
          </a:xfrm>
          <a:prstGeom prst="rect">
            <a:avLst/>
          </a:prstGeom>
          <a:noFill/>
        </p:spPr>
        <p:txBody>
          <a:bodyPr wrap="square" anchor="t">
            <a:spAutoFit/>
          </a:bodyPr>
          <a:lstStyle/>
          <a:p>
            <a:pPr algn="l">
              <a:lnSpc>
                <a:spcPct val="100000"/>
              </a:lnSpc>
              <a:spcAft>
                <a:spcPts val="200"/>
              </a:spcAft>
            </a:pPr>
            <a:r>
              <a:rPr sz="2600" b="1">
                <a:solidFill>
                  <a:srgbClr val="DC2626"/>
                </a:solidFill>
                <a:latin typeface="Calibri"/>
              </a:rPr>
              <a:t>0</a:t>
            </a:r>
          </a:p>
        </p:txBody>
      </p:sp>
      <p:sp>
        <p:nvSpPr>
          <p:cNvPr id="17" name="TextBox 16"/>
          <p:cNvSpPr txBox="1"/>
          <p:nvPr/>
        </p:nvSpPr>
        <p:spPr>
          <a:xfrm>
            <a:off x="6464807" y="2377440"/>
            <a:ext cx="23042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cellular network, GPS accuracy and road access after a flood</a:t>
            </a:r>
          </a:p>
        </p:txBody>
      </p:sp>
      <p:sp>
        <p:nvSpPr>
          <p:cNvPr id="18" name="Rounded Rectangle 17"/>
          <p:cNvSpPr/>
          <p:nvPr/>
        </p:nvSpPr>
        <p:spPr>
          <a:xfrm>
            <a:off x="9061704" y="1600200"/>
            <a:ext cx="2578608" cy="123444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61704" y="1600200"/>
            <a:ext cx="54864"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26296" y="1709928"/>
            <a:ext cx="2304288" cy="566928"/>
          </a:xfrm>
          <a:prstGeom prst="rect">
            <a:avLst/>
          </a:prstGeom>
          <a:noFill/>
        </p:spPr>
        <p:txBody>
          <a:bodyPr wrap="square" anchor="t">
            <a:spAutoFit/>
          </a:bodyPr>
          <a:lstStyle/>
          <a:p>
            <a:pPr algn="l">
              <a:lnSpc>
                <a:spcPct val="100000"/>
              </a:lnSpc>
              <a:spcAft>
                <a:spcPts val="200"/>
              </a:spcAft>
            </a:pPr>
            <a:r>
              <a:rPr sz="2600" b="1">
                <a:solidFill>
                  <a:srgbClr val="F59E0B"/>
                </a:solidFill>
                <a:latin typeface="Calibri"/>
              </a:rPr>
              <a:t>₹3 L+</a:t>
            </a:r>
          </a:p>
        </p:txBody>
      </p:sp>
      <p:sp>
        <p:nvSpPr>
          <p:cNvPr id="21" name="TextBox 20"/>
          <p:cNvSpPr txBox="1"/>
          <p:nvPr/>
        </p:nvSpPr>
        <p:spPr>
          <a:xfrm>
            <a:off x="9226296" y="2377440"/>
            <a:ext cx="23042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a radiometric thermal camera + companion computer, per aircraft</a:t>
            </a:r>
          </a:p>
        </p:txBody>
      </p:sp>
      <p:sp>
        <p:nvSpPr>
          <p:cNvPr id="22" name="TextBox 21"/>
          <p:cNvSpPr txBox="1"/>
          <p:nvPr/>
        </p:nvSpPr>
        <p:spPr>
          <a:xfrm>
            <a:off x="777240" y="3200400"/>
            <a:ext cx="6583680" cy="2926080"/>
          </a:xfrm>
          <a:prstGeom prst="rect">
            <a:avLst/>
          </a:prstGeom>
          <a:noFill/>
        </p:spPr>
        <p:txBody>
          <a:bodyPr wrap="square" anchor="t">
            <a:spAutoFit/>
          </a:bodyPr>
          <a:lstStyle/>
          <a:p>
            <a:pPr algn="l">
              <a:lnSpc>
                <a:spcPct val="105000"/>
              </a:lnSpc>
              <a:spcAft>
                <a:spcPts val="400"/>
              </a:spcAft>
            </a:pPr>
            <a:r>
              <a:rPr sz="1400" b="1">
                <a:solidFill>
                  <a:srgbClr val="22C55E"/>
                </a:solidFill>
                <a:latin typeface="Calibri"/>
              </a:rPr>
              <a:t>▸  </a:t>
            </a:r>
            <a:r>
              <a:rPr sz="1400" b="1">
                <a:solidFill>
                  <a:srgbClr val="E5EDF8"/>
                </a:solidFill>
                <a:latin typeface="Calibri"/>
              </a:rPr>
              <a:t>Manual search is eyes on a screen. </a:t>
            </a:r>
            <a:r>
              <a:rPr sz="1400" b="0">
                <a:solidFill>
                  <a:srgbClr val="8EA3C0"/>
                </a:solidFill>
                <a:latin typeface="Calibri"/>
              </a:rPr>
              <a:t>A human watches thermal video and blinks at the wrong moment; fatigue makes misses, not breaks.</a:t>
            </a:r>
          </a:p>
          <a:p>
            <a:pPr algn="l">
              <a:lnSpc>
                <a:spcPct val="105000"/>
              </a:lnSpc>
              <a:spcAft>
                <a:spcPts val="400"/>
              </a:spcAft>
            </a:pPr>
            <a:r>
              <a:rPr sz="1400" b="1">
                <a:solidFill>
                  <a:srgbClr val="22C55E"/>
                </a:solidFill>
                <a:latin typeface="Calibri"/>
              </a:rPr>
              <a:t>▸  </a:t>
            </a:r>
            <a:r>
              <a:rPr sz="1400" b="1">
                <a:solidFill>
                  <a:srgbClr val="E5EDF8"/>
                </a:solidFill>
                <a:latin typeface="Calibri"/>
              </a:rPr>
              <a:t>Off-the-shelf AI fails here. </a:t>
            </a:r>
            <a:r>
              <a:rPr sz="1400" b="0">
                <a:solidFill>
                  <a:srgbClr val="8EA3C0"/>
                </a:solidFill>
                <a:latin typeface="Calibri"/>
              </a:rPr>
              <a:t>Public detectors are trained on standing pedestrians at street level. A flood survivor lies down, half in water, six pixels wide.</a:t>
            </a:r>
          </a:p>
          <a:p>
            <a:pPr algn="l">
              <a:lnSpc>
                <a:spcPct val="105000"/>
              </a:lnSpc>
              <a:spcAft>
                <a:spcPts val="400"/>
              </a:spcAft>
            </a:pPr>
            <a:r>
              <a:rPr sz="1400" b="1">
                <a:solidFill>
                  <a:srgbClr val="22C55E"/>
                </a:solidFill>
                <a:latin typeface="Calibri"/>
              </a:rPr>
              <a:t>▸  </a:t>
            </a:r>
            <a:r>
              <a:rPr sz="1400" b="1">
                <a:solidFill>
                  <a:srgbClr val="E5EDF8"/>
                </a:solidFill>
                <a:latin typeface="Calibri"/>
              </a:rPr>
              <a:t>Infrastructure dies first. </a:t>
            </a:r>
            <a:r>
              <a:rPr sz="1400" b="0">
                <a:solidFill>
                  <a:srgbClr val="8EA3C0"/>
                </a:solidFill>
                <a:latin typeface="Calibri"/>
              </a:rPr>
              <a:t>Floods take the network, the roads and reliable GNSS before the first team arrives — so video streaming and cloud AI are not options.</a:t>
            </a:r>
          </a:p>
          <a:p>
            <a:pPr algn="l">
              <a:lnSpc>
                <a:spcPct val="105000"/>
              </a:lnSpc>
              <a:spcAft>
                <a:spcPts val="400"/>
              </a:spcAft>
            </a:pPr>
            <a:r>
              <a:rPr sz="1400" b="1">
                <a:solidFill>
                  <a:srgbClr val="22C55E"/>
                </a:solidFill>
                <a:latin typeface="Calibri"/>
              </a:rPr>
              <a:t>▸  </a:t>
            </a:r>
            <a:r>
              <a:rPr sz="1400" b="1">
                <a:solidFill>
                  <a:srgbClr val="E5EDF8"/>
                </a:solidFill>
                <a:latin typeface="Calibri"/>
              </a:rPr>
              <a:t>False alarms cost ground teams. </a:t>
            </a:r>
            <a:r>
              <a:rPr sz="1400" b="0">
                <a:solidFill>
                  <a:srgbClr val="8EA3C0"/>
                </a:solidFill>
                <a:latin typeface="Calibri"/>
              </a:rPr>
              <a:t>Every wrong rooftop sends rescuers up a staircase instead of to a survivor.</a:t>
            </a:r>
          </a:p>
        </p:txBody>
      </p:sp>
      <p:pic>
        <p:nvPicPr>
          <p:cNvPr id="23" name="Picture 22" descr="pitch_01_problem.png"/>
          <p:cNvPicPr>
            <a:picLocks noChangeAspect="1"/>
          </p:cNvPicPr>
          <p:nvPr/>
        </p:nvPicPr>
        <p:blipFill>
          <a:blip r:embed="rId2"/>
          <a:stretch>
            <a:fillRect/>
          </a:stretch>
        </p:blipFill>
        <p:spPr>
          <a:xfrm>
            <a:off x="7635240" y="3200400"/>
            <a:ext cx="3840480" cy="1536192"/>
          </a:xfrm>
          <a:prstGeom prst="rect">
            <a:avLst/>
          </a:prstGeom>
        </p:spPr>
      </p:pic>
      <p:sp>
        <p:nvSpPr>
          <p:cNvPr id="24" name="TextBox 23"/>
          <p:cNvSpPr txBox="1"/>
          <p:nvPr/>
        </p:nvSpPr>
        <p:spPr>
          <a:xfrm>
            <a:off x="7635240" y="5989320"/>
            <a:ext cx="3840480" cy="274320"/>
          </a:xfrm>
          <a:prstGeom prst="rect">
            <a:avLst/>
          </a:prstGeom>
          <a:noFill/>
        </p:spPr>
        <p:txBody>
          <a:bodyPr wrap="square" anchor="t">
            <a:spAutoFit/>
          </a:bodyPr>
          <a:lstStyle/>
          <a:p>
            <a:pPr algn="l">
              <a:lnSpc>
                <a:spcPct val="100000"/>
              </a:lnSpc>
              <a:spcAft>
                <a:spcPts val="200"/>
              </a:spcAft>
            </a:pPr>
            <a:r>
              <a:rPr sz="1000" b="0">
                <a:solidFill>
                  <a:srgbClr val="8EA3C0"/>
                </a:solidFill>
                <a:latin typeface="Calibri"/>
              </a:rPr>
              <a:t>The golden hour, and who is still looking at hour three</a:t>
            </a:r>
          </a:p>
        </p:txBody>
      </p:sp>
      <p:sp>
        <p:nvSpPr>
          <p:cNvPr id="25" name="TextBox 24"/>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26" name="TextBox 25"/>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F59E0B"/>
                </a:solidFill>
                <a:latin typeface="Calibri"/>
              </a:rPr>
              <a:t>THE INSIGHT</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Two facts nobody else in this room is using</a:t>
            </a:r>
          </a:p>
        </p:txBody>
      </p:sp>
      <p:sp>
        <p:nvSpPr>
          <p:cNvPr id="6" name="Rounded Rectangle 5"/>
          <p:cNvSpPr/>
          <p:nvPr/>
        </p:nvSpPr>
        <p:spPr>
          <a:xfrm>
            <a:off x="777240" y="1554480"/>
            <a:ext cx="5257800" cy="448056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4846320" cy="365760"/>
          </a:xfrm>
          <a:prstGeom prst="rect">
            <a:avLst/>
          </a:prstGeom>
          <a:noFill/>
        </p:spPr>
        <p:txBody>
          <a:bodyPr wrap="square" anchor="t">
            <a:spAutoFit/>
          </a:bodyPr>
          <a:lstStyle/>
          <a:p>
            <a:pPr algn="l">
              <a:lnSpc>
                <a:spcPct val="100000"/>
              </a:lnSpc>
              <a:spcAft>
                <a:spcPts val="200"/>
              </a:spcAft>
            </a:pPr>
            <a:r>
              <a:rPr sz="1200" b="1">
                <a:solidFill>
                  <a:srgbClr val="F59E0B"/>
                </a:solidFill>
                <a:latin typeface="Calibri"/>
              </a:rPr>
              <a:t>FACT 1 · THE TARGET IS SUB-CELL</a:t>
            </a:r>
          </a:p>
        </p:txBody>
      </p:sp>
      <p:sp>
        <p:nvSpPr>
          <p:cNvPr id="8" name="TextBox 7"/>
          <p:cNvSpPr txBox="1"/>
          <p:nvPr/>
        </p:nvSpPr>
        <p:spPr>
          <a:xfrm>
            <a:off x="1005840" y="2240280"/>
            <a:ext cx="4800600" cy="3566160"/>
          </a:xfrm>
          <a:prstGeom prst="rect">
            <a:avLst/>
          </a:prstGeom>
          <a:noFill/>
        </p:spPr>
        <p:txBody>
          <a:bodyPr wrap="square" anchor="t">
            <a:spAutoFit/>
          </a:bodyPr>
          <a:lstStyle/>
          <a:p>
            <a:pPr algn="l">
              <a:lnSpc>
                <a:spcPct val="105000"/>
              </a:lnSpc>
              <a:spcAft>
                <a:spcPts val="400"/>
              </a:spcAft>
            </a:pPr>
            <a:r>
              <a:rPr sz="1300" b="1">
                <a:solidFill>
                  <a:srgbClr val="F59E0B"/>
                </a:solidFill>
                <a:latin typeface="Calibri"/>
              </a:rPr>
              <a:t>▸  </a:t>
            </a:r>
            <a:r>
              <a:rPr sz="1300" b="1">
                <a:solidFill>
                  <a:srgbClr val="E5EDF8"/>
                </a:solidFill>
                <a:latin typeface="Calibri"/>
              </a:rPr>
              <a:t>A stride-8 detector is blind here. </a:t>
            </a:r>
            <a:r>
              <a:rPr sz="1300" b="0">
                <a:solidFill>
                  <a:srgbClr val="8EA3C0"/>
                </a:solidFill>
                <a:latin typeface="Calibri"/>
              </a:rPr>
              <a:t>Its finest grid cell is 8 px; a 4 px body is less than one cell. Measured on our own renderer: mAP50 0.0009.</a:t>
            </a:r>
          </a:p>
          <a:p>
            <a:pPr algn="l">
              <a:lnSpc>
                <a:spcPct val="105000"/>
              </a:lnSpc>
              <a:spcAft>
                <a:spcPts val="400"/>
              </a:spcAft>
            </a:pPr>
            <a:r>
              <a:rPr sz="1300" b="1">
                <a:solidFill>
                  <a:srgbClr val="F59E0B"/>
                </a:solidFill>
                <a:latin typeface="Calibri"/>
              </a:rPr>
              <a:t>▸  </a:t>
            </a:r>
            <a:r>
              <a:rPr sz="1300" b="1">
                <a:solidFill>
                  <a:srgbClr val="E5EDF8"/>
                </a:solidFill>
                <a:latin typeface="Calibri"/>
              </a:rPr>
              <a:t>Add a stride-4 (P2) head: 0.2338. </a:t>
            </a:r>
            <a:r>
              <a:rPr sz="1300" b="0">
                <a:solidFill>
                  <a:srgbClr val="8EA3C0"/>
                </a:solidFill>
                <a:latin typeface="Calibri"/>
              </a:rPr>
              <a:t>Same data, same epochs — a 260× improvement from architecture alone. This one change is the difference between a toy and a detector.</a:t>
            </a:r>
          </a:p>
          <a:p>
            <a:pPr algn="l">
              <a:lnSpc>
                <a:spcPct val="105000"/>
              </a:lnSpc>
              <a:spcAft>
                <a:spcPts val="400"/>
              </a:spcAft>
            </a:pPr>
            <a:r>
              <a:rPr sz="1300" b="1">
                <a:solidFill>
                  <a:srgbClr val="F59E0B"/>
                </a:solidFill>
                <a:latin typeface="Calibri"/>
              </a:rPr>
              <a:t>▸  </a:t>
            </a:r>
            <a:r>
              <a:rPr sz="1300" b="1">
                <a:solidFill>
                  <a:srgbClr val="E5EDF8"/>
                </a:solidFill>
                <a:latin typeface="Calibri"/>
              </a:rPr>
              <a:t>Transformers lose on thermal. </a:t>
            </a:r>
            <a:r>
              <a:rPr sz="1300" b="0">
                <a:solidFill>
                  <a:srgbClr val="8EA3C0"/>
                </a:solidFill>
                <a:latin typeface="Calibri"/>
              </a:rPr>
              <a:t>On a 75k-image aerial-thermal benchmark RT-DETR-L scores 5.0% AP on small objects vs 10.7–11.6% for YOLO. Warm blobs have no texture for attention to attend to.</a:t>
            </a:r>
          </a:p>
        </p:txBody>
      </p:sp>
      <p:sp>
        <p:nvSpPr>
          <p:cNvPr id="9" name="Rounded Rectangle 8"/>
          <p:cNvSpPr/>
          <p:nvPr/>
        </p:nvSpPr>
        <p:spPr>
          <a:xfrm>
            <a:off x="6263640" y="1554480"/>
            <a:ext cx="5166360" cy="448056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square" anchor="t">
            <a:spAutoFit/>
          </a:bodyPr>
          <a:lstStyle/>
          <a:p>
            <a:pPr algn="l">
              <a:lnSpc>
                <a:spcPct val="100000"/>
              </a:lnSpc>
              <a:spcAft>
                <a:spcPts val="200"/>
              </a:spcAft>
            </a:pPr>
            <a:r>
              <a:rPr sz="1200" b="1">
                <a:solidFill>
                  <a:srgbClr val="38BDF8"/>
                </a:solidFill>
                <a:latin typeface="Calibri"/>
              </a:rPr>
              <a:t>FACT 2 · THE COMPUTER IS ALREADY IN EVERY POCKET</a:t>
            </a:r>
          </a:p>
        </p:txBody>
      </p:sp>
      <p:sp>
        <p:nvSpPr>
          <p:cNvPr id="11" name="TextBox 10"/>
          <p:cNvSpPr txBox="1"/>
          <p:nvPr/>
        </p:nvSpPr>
        <p:spPr>
          <a:xfrm>
            <a:off x="6492240" y="2240280"/>
            <a:ext cx="4709160" cy="3566160"/>
          </a:xfrm>
          <a:prstGeom prst="rect">
            <a:avLst/>
          </a:prstGeom>
          <a:noFill/>
        </p:spPr>
        <p:txBody>
          <a:bodyPr wrap="square" anchor="t">
            <a:spAutoFit/>
          </a:bodyPr>
          <a:lstStyle/>
          <a:p>
            <a:pPr algn="l">
              <a:lnSpc>
                <a:spcPct val="105000"/>
              </a:lnSpc>
              <a:spcAft>
                <a:spcPts val="400"/>
              </a:spcAft>
            </a:pPr>
            <a:r>
              <a:rPr sz="1300" b="1">
                <a:solidFill>
                  <a:srgbClr val="38BDF8"/>
                </a:solidFill>
                <a:latin typeface="Calibri"/>
              </a:rPr>
              <a:t>▸  </a:t>
            </a:r>
            <a:r>
              <a:rPr sz="1300" b="1">
                <a:solidFill>
                  <a:srgbClr val="E5EDF8"/>
                </a:solidFill>
                <a:latin typeface="Calibri"/>
              </a:rPr>
              <a:t>A Snapdragon phone carries six of our subsystems: </a:t>
            </a:r>
            <a:r>
              <a:rPr sz="1300" b="0">
                <a:solidFill>
                  <a:srgbClr val="8EA3C0"/>
                </a:solidFill>
                <a:latin typeface="Calibri"/>
              </a:rPr>
              <a:t>stabilised RGB camera, INT8 NPU, visual-inertial odometry, 4G relay, field display and a backup battery.</a:t>
            </a:r>
          </a:p>
          <a:p>
            <a:pPr algn="l">
              <a:lnSpc>
                <a:spcPct val="105000"/>
              </a:lnSpc>
              <a:spcAft>
                <a:spcPts val="400"/>
              </a:spcAft>
            </a:pPr>
            <a:r>
              <a:rPr sz="1300" b="1">
                <a:solidFill>
                  <a:srgbClr val="38BDF8"/>
                </a:solidFill>
                <a:latin typeface="Calibri"/>
              </a:rPr>
              <a:t>▸  </a:t>
            </a:r>
            <a:r>
              <a:rPr sz="1300" b="1">
                <a:solidFill>
                  <a:srgbClr val="E5EDF8"/>
                </a:solidFill>
                <a:latin typeface="Calibri"/>
              </a:rPr>
              <a:t>Buying them separately: ₹35,000+ and weeks of integration. </a:t>
            </a:r>
            <a:r>
              <a:rPr sz="1300" b="0">
                <a:solidFill>
                  <a:srgbClr val="8EA3C0"/>
                </a:solidFill>
                <a:latin typeface="Calibri"/>
              </a:rPr>
              <a:t>The phone: ₹0 and one USB cable.</a:t>
            </a:r>
          </a:p>
          <a:p>
            <a:pPr algn="l">
              <a:lnSpc>
                <a:spcPct val="105000"/>
              </a:lnSpc>
              <a:spcAft>
                <a:spcPts val="400"/>
              </a:spcAft>
            </a:pPr>
            <a:r>
              <a:rPr sz="1300" b="1">
                <a:solidFill>
                  <a:srgbClr val="38BDF8"/>
                </a:solidFill>
                <a:latin typeface="Calibri"/>
              </a:rPr>
              <a:t>▸  </a:t>
            </a:r>
            <a:r>
              <a:rPr sz="1300" b="1">
                <a:solidFill>
                  <a:srgbClr val="E5EDF8"/>
                </a:solidFill>
                <a:latin typeface="Calibri"/>
              </a:rPr>
              <a:t>Same silicon family as the target board. </a:t>
            </a:r>
            <a:r>
              <a:rPr sz="1300" b="0">
                <a:solidFill>
                  <a:srgbClr val="8EA3C0"/>
                </a:solidFill>
                <a:latin typeface="Calibri"/>
              </a:rPr>
              <a:t>The phone's Hexagon DSP and the Qualcomm QCS6490 we fly on share one architecture — one model format, two destinations.</a:t>
            </a:r>
          </a:p>
        </p:txBody>
      </p:sp>
      <p:sp>
        <p:nvSpPr>
          <p:cNvPr id="12" name="TextBox 11"/>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13" name="TextBox 12"/>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22C55E"/>
                </a:solidFill>
                <a:latin typeface="Calibri"/>
              </a:rPr>
              <a:t>2 · SOLUTION</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One airframe, six capabilities — all of it on-device</a:t>
            </a:r>
          </a:p>
        </p:txBody>
      </p:sp>
      <p:pic>
        <p:nvPicPr>
          <p:cNvPr id="6" name="Picture 5" descr="pitch_arch.png"/>
          <p:cNvPicPr>
            <a:picLocks noChangeAspect="1"/>
          </p:cNvPicPr>
          <p:nvPr/>
        </p:nvPicPr>
        <p:blipFill>
          <a:blip r:embed="rId2"/>
          <a:stretch>
            <a:fillRect/>
          </a:stretch>
        </p:blipFill>
        <p:spPr>
          <a:xfrm>
            <a:off x="777240" y="1508760"/>
            <a:ext cx="6675120" cy="3684948"/>
          </a:xfrm>
          <a:prstGeom prst="rect">
            <a:avLst/>
          </a:prstGeom>
        </p:spPr>
      </p:pic>
      <p:sp>
        <p:nvSpPr>
          <p:cNvPr id="7" name="TextBox 6"/>
          <p:cNvSpPr txBox="1"/>
          <p:nvPr/>
        </p:nvSpPr>
        <p:spPr>
          <a:xfrm>
            <a:off x="7680960" y="1600200"/>
            <a:ext cx="3840480" cy="4572000"/>
          </a:xfrm>
          <a:prstGeom prst="rect">
            <a:avLst/>
          </a:prstGeom>
          <a:noFill/>
        </p:spPr>
        <p:txBody>
          <a:bodyPr wrap="square" anchor="t">
            <a:spAutoFit/>
          </a:bodyPr>
          <a:lstStyle/>
          <a:p>
            <a:pPr algn="l">
              <a:lnSpc>
                <a:spcPct val="105000"/>
              </a:lnSpc>
              <a:spcAft>
                <a:spcPts val="400"/>
              </a:spcAft>
            </a:pPr>
            <a:r>
              <a:rPr sz="1300" b="1">
                <a:solidFill>
                  <a:srgbClr val="22C55E"/>
                </a:solidFill>
                <a:latin typeface="Calibri"/>
              </a:rPr>
              <a:t>▸  </a:t>
            </a:r>
            <a:r>
              <a:rPr sz="1300" b="1">
                <a:solidFill>
                  <a:srgbClr val="E5EDF8"/>
                </a:solidFill>
                <a:latin typeface="Calibri"/>
              </a:rPr>
              <a:t>Search. </a:t>
            </a:r>
            <a:r>
              <a:rPr sz="1300" b="0">
                <a:solidFill>
                  <a:srgbClr val="8EA3C0"/>
                </a:solidFill>
                <a:latin typeface="Calibri"/>
              </a:rPr>
              <a:t>Coverage-planned lawnmower lanes sized by search theory, not vibes.</a:t>
            </a:r>
          </a:p>
          <a:p>
            <a:pPr algn="l">
              <a:lnSpc>
                <a:spcPct val="105000"/>
              </a:lnSpc>
              <a:spcAft>
                <a:spcPts val="400"/>
              </a:spcAft>
            </a:pPr>
            <a:r>
              <a:rPr sz="1300" b="1">
                <a:solidFill>
                  <a:srgbClr val="22C55E"/>
                </a:solidFill>
                <a:latin typeface="Calibri"/>
              </a:rPr>
              <a:t>▸  </a:t>
            </a:r>
            <a:r>
              <a:rPr sz="1300" b="1">
                <a:solidFill>
                  <a:srgbClr val="E5EDF8"/>
                </a:solidFill>
                <a:latin typeface="Calibri"/>
              </a:rPr>
              <a:t>Detect. </a:t>
            </a:r>
            <a:r>
              <a:rPr sz="1300" b="0">
                <a:solidFill>
                  <a:srgbClr val="8EA3C0"/>
                </a:solidFill>
                <a:latin typeface="Calibri"/>
              </a:rPr>
              <a:t>Radiometric LWIR + phone RGB, YOLO11n-P2, fused with a physics veto.</a:t>
            </a:r>
          </a:p>
          <a:p>
            <a:pPr algn="l">
              <a:lnSpc>
                <a:spcPct val="105000"/>
              </a:lnSpc>
              <a:spcAft>
                <a:spcPts val="400"/>
              </a:spcAft>
            </a:pPr>
            <a:r>
              <a:rPr sz="1300" b="1">
                <a:solidFill>
                  <a:srgbClr val="22C55E"/>
                </a:solidFill>
                <a:latin typeface="Calibri"/>
              </a:rPr>
              <a:t>▸  </a:t>
            </a:r>
            <a:r>
              <a:rPr sz="1300" b="1">
                <a:solidFill>
                  <a:srgbClr val="E5EDF8"/>
                </a:solidFill>
                <a:latin typeface="Calibri"/>
              </a:rPr>
              <a:t>Navigate. </a:t>
            </a:r>
            <a:r>
              <a:rPr sz="1300" b="0">
                <a:solidFill>
                  <a:srgbClr val="8EA3C0"/>
                </a:solidFill>
                <a:latin typeface="Calibri"/>
              </a:rPr>
              <a:t>VIO + lidar when GNSS lies; EKF source management mid-flight.</a:t>
            </a:r>
          </a:p>
          <a:p>
            <a:pPr algn="l">
              <a:lnSpc>
                <a:spcPct val="105000"/>
              </a:lnSpc>
              <a:spcAft>
                <a:spcPts val="400"/>
              </a:spcAft>
            </a:pPr>
            <a:r>
              <a:rPr sz="1300" b="1">
                <a:solidFill>
                  <a:srgbClr val="22C55E"/>
                </a:solidFill>
                <a:latin typeface="Calibri"/>
              </a:rPr>
              <a:t>▸  </a:t>
            </a:r>
            <a:r>
              <a:rPr sz="1300" b="1">
                <a:solidFill>
                  <a:srgbClr val="E5EDF8"/>
                </a:solidFill>
                <a:latin typeface="Calibri"/>
              </a:rPr>
              <a:t>Report. </a:t>
            </a:r>
            <a:r>
              <a:rPr sz="1300" b="0">
                <a:solidFill>
                  <a:srgbClr val="8EA3C0"/>
                </a:solidFill>
                <a:latin typeface="Calibri"/>
              </a:rPr>
              <a:t>200-byte verified survivor packets over LoRa store-and-forward.</a:t>
            </a:r>
          </a:p>
          <a:p>
            <a:pPr algn="l">
              <a:lnSpc>
                <a:spcPct val="105000"/>
              </a:lnSpc>
              <a:spcAft>
                <a:spcPts val="400"/>
              </a:spcAft>
            </a:pPr>
            <a:r>
              <a:rPr sz="1300" b="1">
                <a:solidFill>
                  <a:srgbClr val="22C55E"/>
                </a:solidFill>
                <a:latin typeface="Calibri"/>
              </a:rPr>
              <a:t>▸  </a:t>
            </a:r>
            <a:r>
              <a:rPr sz="1300" b="1">
                <a:solidFill>
                  <a:srgbClr val="E5EDF8"/>
                </a:solidFill>
                <a:latin typeface="Calibri"/>
              </a:rPr>
              <a:t>Rescue. </a:t>
            </a:r>
            <a:r>
              <a:rPr sz="1300" b="0">
                <a:solidFill>
                  <a:srgbClr val="8EA3C0"/>
                </a:solidFill>
                <a:latin typeface="Calibri"/>
              </a:rPr>
              <a:t>Payload drop on the survivor, A* safe route for the ground team.</a:t>
            </a:r>
          </a:p>
          <a:p>
            <a:pPr algn="l">
              <a:lnSpc>
                <a:spcPct val="105000"/>
              </a:lnSpc>
              <a:spcAft>
                <a:spcPts val="400"/>
              </a:spcAft>
            </a:pPr>
            <a:r>
              <a:rPr sz="1300" b="1">
                <a:solidFill>
                  <a:srgbClr val="22C55E"/>
                </a:solidFill>
                <a:latin typeface="Calibri"/>
              </a:rPr>
              <a:t>▸  </a:t>
            </a:r>
            <a:r>
              <a:rPr sz="1300" b="1">
                <a:solidFill>
                  <a:srgbClr val="E5EDF8"/>
                </a:solidFill>
                <a:latin typeface="Calibri"/>
              </a:rPr>
              <a:t>Survive. </a:t>
            </a:r>
            <a:r>
              <a:rPr sz="1300" b="0">
                <a:solidFill>
                  <a:srgbClr val="8EA3C0"/>
                </a:solidFill>
                <a:latin typeface="Calibri"/>
              </a:rPr>
              <a:t>A 12-rule safety supervisor that ends the sortie before the battery does.</a:t>
            </a:r>
          </a:p>
        </p:txBody>
      </p:sp>
      <p:sp>
        <p:nvSpPr>
          <p:cNvPr id="8" name="TextBox 7"/>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9" name="TextBox 8"/>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38BDF8"/>
                </a:solidFill>
                <a:latin typeface="Calibri"/>
              </a:rPr>
              <a:t>INNOVATION · USP 1</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The phone is the payload — ₹0 of the ₹35,000 problem</a:t>
            </a:r>
          </a:p>
        </p:txBody>
      </p:sp>
      <p:sp>
        <p:nvSpPr>
          <p:cNvPr id="6" name="Rectangle 5"/>
          <p:cNvSpPr/>
          <p:nvPr/>
        </p:nvSpPr>
        <p:spPr>
          <a:xfrm>
            <a:off x="777240" y="1554480"/>
            <a:ext cx="6766560" cy="475488"/>
          </a:xfrm>
          <a:prstGeom prst="rect">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36776"/>
            <a:ext cx="3017520" cy="365760"/>
          </a:xfrm>
          <a:prstGeom prst="rect">
            <a:avLst/>
          </a:prstGeom>
          <a:noFill/>
        </p:spPr>
        <p:txBody>
          <a:bodyPr wrap="square" anchor="t">
            <a:spAutoFit/>
          </a:bodyPr>
          <a:lstStyle/>
          <a:p>
            <a:pPr algn="l">
              <a:lnSpc>
                <a:spcPct val="100000"/>
              </a:lnSpc>
              <a:spcAft>
                <a:spcPts val="200"/>
              </a:spcAft>
            </a:pPr>
            <a:r>
              <a:rPr sz="1200" b="1">
                <a:solidFill>
                  <a:srgbClr val="8EA3C0"/>
                </a:solidFill>
                <a:latin typeface="Calibri"/>
              </a:rPr>
              <a:t>Subsystem a drone must buy</a:t>
            </a:r>
          </a:p>
        </p:txBody>
      </p:sp>
      <p:sp>
        <p:nvSpPr>
          <p:cNvPr id="8" name="TextBox 7"/>
          <p:cNvSpPr txBox="1"/>
          <p:nvPr/>
        </p:nvSpPr>
        <p:spPr>
          <a:xfrm>
            <a:off x="3977639" y="1636776"/>
            <a:ext cx="1188720" cy="365760"/>
          </a:xfrm>
          <a:prstGeom prst="rect">
            <a:avLst/>
          </a:prstGeom>
          <a:noFill/>
        </p:spPr>
        <p:txBody>
          <a:bodyPr wrap="square" anchor="t">
            <a:spAutoFit/>
          </a:bodyPr>
          <a:lstStyle/>
          <a:p>
            <a:pPr algn="l">
              <a:lnSpc>
                <a:spcPct val="100000"/>
              </a:lnSpc>
              <a:spcAft>
                <a:spcPts val="200"/>
              </a:spcAft>
            </a:pPr>
            <a:r>
              <a:rPr sz="1200" b="1">
                <a:solidFill>
                  <a:srgbClr val="8EA3C0"/>
                </a:solidFill>
                <a:latin typeface="Calibri"/>
              </a:rPr>
              <a:t>Cost</a:t>
            </a:r>
          </a:p>
        </p:txBody>
      </p:sp>
      <p:sp>
        <p:nvSpPr>
          <p:cNvPr id="9" name="TextBox 8"/>
          <p:cNvSpPr txBox="1"/>
          <p:nvPr/>
        </p:nvSpPr>
        <p:spPr>
          <a:xfrm>
            <a:off x="5257800" y="1636776"/>
            <a:ext cx="2194560" cy="365760"/>
          </a:xfrm>
          <a:prstGeom prst="rect">
            <a:avLst/>
          </a:prstGeom>
          <a:noFill/>
        </p:spPr>
        <p:txBody>
          <a:bodyPr wrap="square" anchor="t">
            <a:spAutoFit/>
          </a:bodyPr>
          <a:lstStyle/>
          <a:p>
            <a:pPr algn="l">
              <a:lnSpc>
                <a:spcPct val="100000"/>
              </a:lnSpc>
              <a:spcAft>
                <a:spcPts val="200"/>
              </a:spcAft>
            </a:pPr>
            <a:r>
              <a:rPr sz="1200" b="1">
                <a:solidFill>
                  <a:srgbClr val="8EA3C0"/>
                </a:solidFill>
                <a:latin typeface="Calibri"/>
              </a:rPr>
              <a:t>The phone already has</a:t>
            </a:r>
          </a:p>
        </p:txBody>
      </p:sp>
      <p:sp>
        <p:nvSpPr>
          <p:cNvPr id="10" name="Rectangle 9"/>
          <p:cNvSpPr/>
          <p:nvPr/>
        </p:nvSpPr>
        <p:spPr>
          <a:xfrm>
            <a:off x="777240" y="2066543"/>
            <a:ext cx="6766560" cy="475488"/>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148839"/>
            <a:ext cx="301752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USB/MIPI RGB camera, tuned</a:t>
            </a:r>
          </a:p>
        </p:txBody>
      </p:sp>
      <p:sp>
        <p:nvSpPr>
          <p:cNvPr id="12" name="TextBox 11"/>
          <p:cNvSpPr txBox="1"/>
          <p:nvPr/>
        </p:nvSpPr>
        <p:spPr>
          <a:xfrm>
            <a:off x="3977639" y="2148839"/>
            <a:ext cx="1188720" cy="365760"/>
          </a:xfrm>
          <a:prstGeom prst="rect">
            <a:avLst/>
          </a:prstGeom>
          <a:noFill/>
        </p:spPr>
        <p:txBody>
          <a:bodyPr wrap="square" anchor="t">
            <a:spAutoFit/>
          </a:bodyPr>
          <a:lstStyle/>
          <a:p>
            <a:pPr algn="l">
              <a:lnSpc>
                <a:spcPct val="100000"/>
              </a:lnSpc>
              <a:spcAft>
                <a:spcPts val="200"/>
              </a:spcAft>
            </a:pPr>
            <a:r>
              <a:rPr sz="1200" b="0">
                <a:solidFill>
                  <a:srgbClr val="DC2626"/>
                </a:solidFill>
                <a:latin typeface="Calibri"/>
              </a:rPr>
              <a:t>₹4–8k</a:t>
            </a:r>
          </a:p>
        </p:txBody>
      </p:sp>
      <p:sp>
        <p:nvSpPr>
          <p:cNvPr id="13" name="TextBox 12"/>
          <p:cNvSpPr txBox="1"/>
          <p:nvPr/>
        </p:nvSpPr>
        <p:spPr>
          <a:xfrm>
            <a:off x="5257800" y="2148839"/>
            <a:ext cx="2194560" cy="365760"/>
          </a:xfrm>
          <a:prstGeom prst="rect">
            <a:avLst/>
          </a:prstGeom>
          <a:noFill/>
        </p:spPr>
        <p:txBody>
          <a:bodyPr wrap="square" anchor="t">
            <a:spAutoFit/>
          </a:bodyPr>
          <a:lstStyle/>
          <a:p>
            <a:pPr algn="l">
              <a:lnSpc>
                <a:spcPct val="100000"/>
              </a:lnSpc>
              <a:spcAft>
                <a:spcPts val="200"/>
              </a:spcAft>
            </a:pPr>
            <a:r>
              <a:rPr sz="1200" b="0">
                <a:solidFill>
                  <a:srgbClr val="22C55E"/>
                </a:solidFill>
                <a:latin typeface="Calibri"/>
              </a:rPr>
              <a:t>12–50 MP with OIS, vendor-tuned</a:t>
            </a:r>
          </a:p>
        </p:txBody>
      </p:sp>
      <p:sp>
        <p:nvSpPr>
          <p:cNvPr id="14" name="Rectangle 13"/>
          <p:cNvSpPr/>
          <p:nvPr/>
        </p:nvSpPr>
        <p:spPr>
          <a:xfrm>
            <a:off x="777240" y="2578608"/>
            <a:ext cx="6766560" cy="475488"/>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60903"/>
            <a:ext cx="301752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NPU board (Hailo / RB3 / Jetson)</a:t>
            </a:r>
          </a:p>
        </p:txBody>
      </p:sp>
      <p:sp>
        <p:nvSpPr>
          <p:cNvPr id="16" name="TextBox 15"/>
          <p:cNvSpPr txBox="1"/>
          <p:nvPr/>
        </p:nvSpPr>
        <p:spPr>
          <a:xfrm>
            <a:off x="3977639" y="2660903"/>
            <a:ext cx="1188720" cy="365760"/>
          </a:xfrm>
          <a:prstGeom prst="rect">
            <a:avLst/>
          </a:prstGeom>
          <a:noFill/>
        </p:spPr>
        <p:txBody>
          <a:bodyPr wrap="square" anchor="t">
            <a:spAutoFit/>
          </a:bodyPr>
          <a:lstStyle/>
          <a:p>
            <a:pPr algn="l">
              <a:lnSpc>
                <a:spcPct val="100000"/>
              </a:lnSpc>
              <a:spcAft>
                <a:spcPts val="200"/>
              </a:spcAft>
            </a:pPr>
            <a:r>
              <a:rPr sz="1200" b="0">
                <a:solidFill>
                  <a:srgbClr val="DC2626"/>
                </a:solidFill>
                <a:latin typeface="Calibri"/>
              </a:rPr>
              <a:t>₹25k–1.2L</a:t>
            </a:r>
          </a:p>
        </p:txBody>
      </p:sp>
      <p:sp>
        <p:nvSpPr>
          <p:cNvPr id="17" name="TextBox 16"/>
          <p:cNvSpPr txBox="1"/>
          <p:nvPr/>
        </p:nvSpPr>
        <p:spPr>
          <a:xfrm>
            <a:off x="5257800" y="2660903"/>
            <a:ext cx="2194560" cy="365760"/>
          </a:xfrm>
          <a:prstGeom prst="rect">
            <a:avLst/>
          </a:prstGeom>
          <a:noFill/>
        </p:spPr>
        <p:txBody>
          <a:bodyPr wrap="square" anchor="t">
            <a:spAutoFit/>
          </a:bodyPr>
          <a:lstStyle/>
          <a:p>
            <a:pPr algn="l">
              <a:lnSpc>
                <a:spcPct val="100000"/>
              </a:lnSpc>
              <a:spcAft>
                <a:spcPts val="200"/>
              </a:spcAft>
            </a:pPr>
            <a:r>
              <a:rPr sz="1200" b="0">
                <a:solidFill>
                  <a:srgbClr val="22C55E"/>
                </a:solidFill>
                <a:latin typeface="Calibri"/>
              </a:rPr>
              <a:t>Hexagon DSP, YOLO-nano @ 10–30 fps</a:t>
            </a:r>
          </a:p>
        </p:txBody>
      </p:sp>
      <p:sp>
        <p:nvSpPr>
          <p:cNvPr id="18" name="Rectangle 17"/>
          <p:cNvSpPr/>
          <p:nvPr/>
        </p:nvSpPr>
        <p:spPr>
          <a:xfrm>
            <a:off x="777240" y="3090672"/>
            <a:ext cx="6766560" cy="475488"/>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172968"/>
            <a:ext cx="301752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VIO compute + IMU</a:t>
            </a:r>
          </a:p>
        </p:txBody>
      </p:sp>
      <p:sp>
        <p:nvSpPr>
          <p:cNvPr id="20" name="TextBox 19"/>
          <p:cNvSpPr txBox="1"/>
          <p:nvPr/>
        </p:nvSpPr>
        <p:spPr>
          <a:xfrm>
            <a:off x="3977639" y="3172968"/>
            <a:ext cx="1188720" cy="365760"/>
          </a:xfrm>
          <a:prstGeom prst="rect">
            <a:avLst/>
          </a:prstGeom>
          <a:noFill/>
        </p:spPr>
        <p:txBody>
          <a:bodyPr wrap="square" anchor="t">
            <a:spAutoFit/>
          </a:bodyPr>
          <a:lstStyle/>
          <a:p>
            <a:pPr algn="l">
              <a:lnSpc>
                <a:spcPct val="100000"/>
              </a:lnSpc>
              <a:spcAft>
                <a:spcPts val="200"/>
              </a:spcAft>
            </a:pPr>
            <a:r>
              <a:rPr sz="1200" b="0">
                <a:solidFill>
                  <a:srgbClr val="DC2626"/>
                </a:solidFill>
                <a:latin typeface="Calibri"/>
              </a:rPr>
              <a:t>board + tuning</a:t>
            </a:r>
          </a:p>
        </p:txBody>
      </p:sp>
      <p:sp>
        <p:nvSpPr>
          <p:cNvPr id="21" name="TextBox 20"/>
          <p:cNvSpPr txBox="1"/>
          <p:nvPr/>
        </p:nvSpPr>
        <p:spPr>
          <a:xfrm>
            <a:off x="5257800" y="3172968"/>
            <a:ext cx="2194560" cy="365760"/>
          </a:xfrm>
          <a:prstGeom prst="rect">
            <a:avLst/>
          </a:prstGeom>
          <a:noFill/>
        </p:spPr>
        <p:txBody>
          <a:bodyPr wrap="square" anchor="t">
            <a:spAutoFit/>
          </a:bodyPr>
          <a:lstStyle/>
          <a:p>
            <a:pPr algn="l">
              <a:lnSpc>
                <a:spcPct val="100000"/>
              </a:lnSpc>
              <a:spcAft>
                <a:spcPts val="200"/>
              </a:spcAft>
            </a:pPr>
            <a:r>
              <a:rPr sz="1200" b="0">
                <a:solidFill>
                  <a:srgbClr val="22C55E"/>
                </a:solidFill>
                <a:latin typeface="Calibri"/>
              </a:rPr>
              <a:t>ARCore-fused camera + IMU</a:t>
            </a:r>
          </a:p>
        </p:txBody>
      </p:sp>
      <p:sp>
        <p:nvSpPr>
          <p:cNvPr id="22" name="Rectangle 21"/>
          <p:cNvSpPr/>
          <p:nvPr/>
        </p:nvSpPr>
        <p:spPr>
          <a:xfrm>
            <a:off x="777240" y="3602736"/>
            <a:ext cx="6766560" cy="475488"/>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685032"/>
            <a:ext cx="301752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4G telemetry relay</a:t>
            </a:r>
          </a:p>
        </p:txBody>
      </p:sp>
      <p:sp>
        <p:nvSpPr>
          <p:cNvPr id="24" name="TextBox 23"/>
          <p:cNvSpPr txBox="1"/>
          <p:nvPr/>
        </p:nvSpPr>
        <p:spPr>
          <a:xfrm>
            <a:off x="3977639" y="3685032"/>
            <a:ext cx="1188720" cy="365760"/>
          </a:xfrm>
          <a:prstGeom prst="rect">
            <a:avLst/>
          </a:prstGeom>
          <a:noFill/>
        </p:spPr>
        <p:txBody>
          <a:bodyPr wrap="square" anchor="t">
            <a:spAutoFit/>
          </a:bodyPr>
          <a:lstStyle/>
          <a:p>
            <a:pPr algn="l">
              <a:lnSpc>
                <a:spcPct val="100000"/>
              </a:lnSpc>
              <a:spcAft>
                <a:spcPts val="200"/>
              </a:spcAft>
            </a:pPr>
            <a:r>
              <a:rPr sz="1200" b="0">
                <a:solidFill>
                  <a:srgbClr val="DC2626"/>
                </a:solidFill>
                <a:latin typeface="Calibri"/>
              </a:rPr>
              <a:t>₹3–6k + SIM hat</a:t>
            </a:r>
          </a:p>
        </p:txBody>
      </p:sp>
      <p:sp>
        <p:nvSpPr>
          <p:cNvPr id="25" name="TextBox 24"/>
          <p:cNvSpPr txBox="1"/>
          <p:nvPr/>
        </p:nvSpPr>
        <p:spPr>
          <a:xfrm>
            <a:off x="5257800" y="3685032"/>
            <a:ext cx="2194560" cy="365760"/>
          </a:xfrm>
          <a:prstGeom prst="rect">
            <a:avLst/>
          </a:prstGeom>
          <a:noFill/>
        </p:spPr>
        <p:txBody>
          <a:bodyPr wrap="square" anchor="t">
            <a:spAutoFit/>
          </a:bodyPr>
          <a:lstStyle/>
          <a:p>
            <a:pPr algn="l">
              <a:lnSpc>
                <a:spcPct val="100000"/>
              </a:lnSpc>
              <a:spcAft>
                <a:spcPts val="200"/>
              </a:spcAft>
            </a:pPr>
            <a:r>
              <a:rPr sz="1200" b="0">
                <a:solidFill>
                  <a:srgbClr val="22C55E"/>
                </a:solidFill>
                <a:latin typeface="Calibri"/>
              </a:rPr>
              <a:t>the modem it shipped with</a:t>
            </a:r>
          </a:p>
        </p:txBody>
      </p:sp>
      <p:sp>
        <p:nvSpPr>
          <p:cNvPr id="26" name="Rectangle 25"/>
          <p:cNvSpPr/>
          <p:nvPr/>
        </p:nvSpPr>
        <p:spPr>
          <a:xfrm>
            <a:off x="777240" y="4114800"/>
            <a:ext cx="6766560" cy="475488"/>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97096"/>
            <a:ext cx="301752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Field display / debug</a:t>
            </a:r>
          </a:p>
        </p:txBody>
      </p:sp>
      <p:sp>
        <p:nvSpPr>
          <p:cNvPr id="28" name="TextBox 27"/>
          <p:cNvSpPr txBox="1"/>
          <p:nvPr/>
        </p:nvSpPr>
        <p:spPr>
          <a:xfrm>
            <a:off x="3977639" y="4197096"/>
            <a:ext cx="1188720" cy="365760"/>
          </a:xfrm>
          <a:prstGeom prst="rect">
            <a:avLst/>
          </a:prstGeom>
          <a:noFill/>
        </p:spPr>
        <p:txBody>
          <a:bodyPr wrap="square" anchor="t">
            <a:spAutoFit/>
          </a:bodyPr>
          <a:lstStyle/>
          <a:p>
            <a:pPr algn="l">
              <a:lnSpc>
                <a:spcPct val="100000"/>
              </a:lnSpc>
              <a:spcAft>
                <a:spcPts val="200"/>
              </a:spcAft>
            </a:pPr>
            <a:r>
              <a:rPr sz="1200" b="0">
                <a:solidFill>
                  <a:srgbClr val="DC2626"/>
                </a:solidFill>
                <a:latin typeface="Calibri"/>
              </a:rPr>
              <a:t>monitor</a:t>
            </a:r>
          </a:p>
        </p:txBody>
      </p:sp>
      <p:sp>
        <p:nvSpPr>
          <p:cNvPr id="29" name="TextBox 28"/>
          <p:cNvSpPr txBox="1"/>
          <p:nvPr/>
        </p:nvSpPr>
        <p:spPr>
          <a:xfrm>
            <a:off x="5257800" y="4197096"/>
            <a:ext cx="2194560" cy="365760"/>
          </a:xfrm>
          <a:prstGeom prst="rect">
            <a:avLst/>
          </a:prstGeom>
          <a:noFill/>
        </p:spPr>
        <p:txBody>
          <a:bodyPr wrap="square" anchor="t">
            <a:spAutoFit/>
          </a:bodyPr>
          <a:lstStyle/>
          <a:p>
            <a:pPr algn="l">
              <a:lnSpc>
                <a:spcPct val="100000"/>
              </a:lnSpc>
              <a:spcAft>
                <a:spcPts val="200"/>
              </a:spcAft>
            </a:pPr>
            <a:r>
              <a:rPr sz="1200" b="0">
                <a:solidFill>
                  <a:srgbClr val="22C55E"/>
                </a:solidFill>
                <a:latin typeface="Calibri"/>
              </a:rPr>
              <a:t>its own screen</a:t>
            </a:r>
          </a:p>
        </p:txBody>
      </p:sp>
      <p:sp>
        <p:nvSpPr>
          <p:cNvPr id="30" name="Rectangle 29"/>
          <p:cNvSpPr/>
          <p:nvPr/>
        </p:nvSpPr>
        <p:spPr>
          <a:xfrm>
            <a:off x="777240" y="4626864"/>
            <a:ext cx="6766560" cy="475488"/>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09160"/>
            <a:ext cx="301752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Backup power for the AI</a:t>
            </a:r>
          </a:p>
        </p:txBody>
      </p:sp>
      <p:sp>
        <p:nvSpPr>
          <p:cNvPr id="32" name="TextBox 31"/>
          <p:cNvSpPr txBox="1"/>
          <p:nvPr/>
        </p:nvSpPr>
        <p:spPr>
          <a:xfrm>
            <a:off x="3977639" y="4709160"/>
            <a:ext cx="1188720" cy="365760"/>
          </a:xfrm>
          <a:prstGeom prst="rect">
            <a:avLst/>
          </a:prstGeom>
          <a:noFill/>
        </p:spPr>
        <p:txBody>
          <a:bodyPr wrap="square" anchor="t">
            <a:spAutoFit/>
          </a:bodyPr>
          <a:lstStyle/>
          <a:p>
            <a:pPr algn="l">
              <a:lnSpc>
                <a:spcPct val="100000"/>
              </a:lnSpc>
              <a:spcAft>
                <a:spcPts val="200"/>
              </a:spcAft>
            </a:pPr>
            <a:r>
              <a:rPr sz="1200" b="0">
                <a:solidFill>
                  <a:srgbClr val="DC2626"/>
                </a:solidFill>
                <a:latin typeface="Calibri"/>
              </a:rPr>
              <a:t>BEC + supercap</a:t>
            </a:r>
          </a:p>
        </p:txBody>
      </p:sp>
      <p:sp>
        <p:nvSpPr>
          <p:cNvPr id="33" name="TextBox 32"/>
          <p:cNvSpPr txBox="1"/>
          <p:nvPr/>
        </p:nvSpPr>
        <p:spPr>
          <a:xfrm>
            <a:off x="5257800" y="4709160"/>
            <a:ext cx="2194560" cy="365760"/>
          </a:xfrm>
          <a:prstGeom prst="rect">
            <a:avLst/>
          </a:prstGeom>
          <a:noFill/>
        </p:spPr>
        <p:txBody>
          <a:bodyPr wrap="square" anchor="t">
            <a:spAutoFit/>
          </a:bodyPr>
          <a:lstStyle/>
          <a:p>
            <a:pPr algn="l">
              <a:lnSpc>
                <a:spcPct val="100000"/>
              </a:lnSpc>
              <a:spcAft>
                <a:spcPts val="200"/>
              </a:spcAft>
            </a:pPr>
            <a:r>
              <a:rPr sz="1200" b="0">
                <a:solidFill>
                  <a:srgbClr val="22C55E"/>
                </a:solidFill>
                <a:latin typeface="Calibri"/>
              </a:rPr>
              <a:t>its own 5000 mAh cell</a:t>
            </a:r>
          </a:p>
        </p:txBody>
      </p:sp>
      <p:sp>
        <p:nvSpPr>
          <p:cNvPr id="34" name="TextBox 33"/>
          <p:cNvSpPr txBox="1"/>
          <p:nvPr/>
        </p:nvSpPr>
        <p:spPr>
          <a:xfrm>
            <a:off x="777240" y="5276088"/>
            <a:ext cx="6766560" cy="365760"/>
          </a:xfrm>
          <a:prstGeom prst="rect">
            <a:avLst/>
          </a:prstGeom>
          <a:noFill/>
        </p:spPr>
        <p:txBody>
          <a:bodyPr wrap="square" anchor="t">
            <a:spAutoFit/>
          </a:bodyPr>
          <a:lstStyle/>
          <a:p>
            <a:pPr algn="l">
              <a:lnSpc>
                <a:spcPct val="100000"/>
              </a:lnSpc>
              <a:spcAft>
                <a:spcPts val="200"/>
              </a:spcAft>
            </a:pPr>
            <a:r>
              <a:rPr sz="1400" b="1">
                <a:solidFill>
                  <a:srgbClr val="22C55E"/>
                </a:solidFill>
                <a:latin typeface="Calibri"/>
              </a:rPr>
              <a:t>Total bought separately: ₹35,000+ and weeks.  With the phone: ₹0 and one USB cable.</a:t>
            </a:r>
          </a:p>
        </p:txBody>
      </p:sp>
      <p:sp>
        <p:nvSpPr>
          <p:cNvPr id="35" name="Rounded Rectangle 34"/>
          <p:cNvSpPr/>
          <p:nvPr/>
        </p:nvSpPr>
        <p:spPr>
          <a:xfrm>
            <a:off x="7818120" y="1554480"/>
            <a:ext cx="3657600" cy="420624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0" y="1737360"/>
            <a:ext cx="3200400" cy="365760"/>
          </a:xfrm>
          <a:prstGeom prst="rect">
            <a:avLst/>
          </a:prstGeom>
          <a:noFill/>
        </p:spPr>
        <p:txBody>
          <a:bodyPr wrap="square" anchor="t">
            <a:spAutoFit/>
          </a:bodyPr>
          <a:lstStyle/>
          <a:p>
            <a:pPr algn="l">
              <a:lnSpc>
                <a:spcPct val="100000"/>
              </a:lnSpc>
              <a:spcAft>
                <a:spcPts val="200"/>
              </a:spcAft>
            </a:pPr>
            <a:r>
              <a:rPr sz="1100" b="1">
                <a:solidFill>
                  <a:srgbClr val="38BDF8"/>
                </a:solidFill>
                <a:latin typeface="Calibri"/>
              </a:rPr>
              <a:t>MEASURED ON A REAL PHONE</a:t>
            </a:r>
          </a:p>
        </p:txBody>
      </p:sp>
      <p:sp>
        <p:nvSpPr>
          <p:cNvPr id="37" name="TextBox 36"/>
          <p:cNvSpPr txBox="1"/>
          <p:nvPr/>
        </p:nvSpPr>
        <p:spPr>
          <a:xfrm>
            <a:off x="8046720" y="2194560"/>
            <a:ext cx="3200400" cy="365760"/>
          </a:xfrm>
          <a:prstGeom prst="rect">
            <a:avLst/>
          </a:prstGeom>
          <a:noFill/>
        </p:spPr>
        <p:txBody>
          <a:bodyPr wrap="square" anchor="t">
            <a:spAutoFit/>
          </a:bodyPr>
          <a:lstStyle/>
          <a:p>
            <a:pPr algn="l">
              <a:lnSpc>
                <a:spcPct val="100000"/>
              </a:lnSpc>
              <a:spcAft>
                <a:spcPts val="200"/>
              </a:spcAft>
            </a:pPr>
            <a:r>
              <a:rPr sz="2000" b="1">
                <a:solidFill>
                  <a:srgbClr val="22C55E"/>
                </a:solidFill>
                <a:latin typeface="Calibri"/>
              </a:rPr>
              <a:t>15.0 fps</a:t>
            </a:r>
          </a:p>
        </p:txBody>
      </p:sp>
      <p:sp>
        <p:nvSpPr>
          <p:cNvPr id="38" name="TextBox 37"/>
          <p:cNvSpPr txBox="1"/>
          <p:nvPr/>
        </p:nvSpPr>
        <p:spPr>
          <a:xfrm>
            <a:off x="8046720" y="2542032"/>
            <a:ext cx="3200400" cy="274320"/>
          </a:xfrm>
          <a:prstGeom prst="rect">
            <a:avLst/>
          </a:prstGeom>
          <a:noFill/>
        </p:spPr>
        <p:txBody>
          <a:bodyPr wrap="square" anchor="t">
            <a:spAutoFit/>
          </a:bodyPr>
          <a:lstStyle/>
          <a:p>
            <a:pPr algn="l">
              <a:lnSpc>
                <a:spcPct val="100000"/>
              </a:lnSpc>
              <a:spcAft>
                <a:spcPts val="200"/>
              </a:spcAft>
            </a:pPr>
            <a:r>
              <a:rPr sz="1000" b="0">
                <a:solidFill>
                  <a:srgbClr val="8EA3C0"/>
                </a:solidFill>
                <a:latin typeface="Calibri"/>
              </a:rPr>
              <a:t>RGB capture, sustained</a:t>
            </a:r>
          </a:p>
        </p:txBody>
      </p:sp>
      <p:sp>
        <p:nvSpPr>
          <p:cNvPr id="39" name="TextBox 38"/>
          <p:cNvSpPr txBox="1"/>
          <p:nvPr/>
        </p:nvSpPr>
        <p:spPr>
          <a:xfrm>
            <a:off x="8046720" y="2852928"/>
            <a:ext cx="3200400" cy="365760"/>
          </a:xfrm>
          <a:prstGeom prst="rect">
            <a:avLst/>
          </a:prstGeom>
          <a:noFill/>
        </p:spPr>
        <p:txBody>
          <a:bodyPr wrap="square" anchor="t">
            <a:spAutoFit/>
          </a:bodyPr>
          <a:lstStyle/>
          <a:p>
            <a:pPr algn="l">
              <a:lnSpc>
                <a:spcPct val="100000"/>
              </a:lnSpc>
              <a:spcAft>
                <a:spcPts val="200"/>
              </a:spcAft>
            </a:pPr>
            <a:r>
              <a:rPr sz="2000" b="1">
                <a:solidFill>
                  <a:srgbClr val="22C55E"/>
                </a:solidFill>
                <a:latin typeface="Calibri"/>
              </a:rPr>
              <a:t>29.6 Hz</a:t>
            </a:r>
          </a:p>
        </p:txBody>
      </p:sp>
      <p:sp>
        <p:nvSpPr>
          <p:cNvPr id="40" name="TextBox 39"/>
          <p:cNvSpPr txBox="1"/>
          <p:nvPr/>
        </p:nvSpPr>
        <p:spPr>
          <a:xfrm>
            <a:off x="8046720" y="3200400"/>
            <a:ext cx="3200400" cy="274320"/>
          </a:xfrm>
          <a:prstGeom prst="rect">
            <a:avLst/>
          </a:prstGeom>
          <a:noFill/>
        </p:spPr>
        <p:txBody>
          <a:bodyPr wrap="square" anchor="t">
            <a:spAutoFit/>
          </a:bodyPr>
          <a:lstStyle/>
          <a:p>
            <a:pPr algn="l">
              <a:lnSpc>
                <a:spcPct val="100000"/>
              </a:lnSpc>
              <a:spcAft>
                <a:spcPts val="200"/>
              </a:spcAft>
            </a:pPr>
            <a:r>
              <a:rPr sz="1000" b="0">
                <a:solidFill>
                  <a:srgbClr val="8EA3C0"/>
                </a:solidFill>
                <a:latin typeface="Calibri"/>
              </a:rPr>
              <a:t>visual-inertial odometry</a:t>
            </a:r>
          </a:p>
        </p:txBody>
      </p:sp>
      <p:sp>
        <p:nvSpPr>
          <p:cNvPr id="41" name="TextBox 40"/>
          <p:cNvSpPr txBox="1"/>
          <p:nvPr/>
        </p:nvSpPr>
        <p:spPr>
          <a:xfrm>
            <a:off x="8046720" y="3511296"/>
            <a:ext cx="3200400" cy="365760"/>
          </a:xfrm>
          <a:prstGeom prst="rect">
            <a:avLst/>
          </a:prstGeom>
          <a:noFill/>
        </p:spPr>
        <p:txBody>
          <a:bodyPr wrap="square" anchor="t">
            <a:spAutoFit/>
          </a:bodyPr>
          <a:lstStyle/>
          <a:p>
            <a:pPr algn="l">
              <a:lnSpc>
                <a:spcPct val="100000"/>
              </a:lnSpc>
              <a:spcAft>
                <a:spcPts val="200"/>
              </a:spcAft>
            </a:pPr>
            <a:r>
              <a:rPr sz="2000" b="1">
                <a:solidFill>
                  <a:srgbClr val="22C55E"/>
                </a:solidFill>
                <a:latin typeface="Calibri"/>
              </a:rPr>
              <a:t>69 ms</a:t>
            </a:r>
          </a:p>
        </p:txBody>
      </p:sp>
      <p:sp>
        <p:nvSpPr>
          <p:cNvPr id="42" name="TextBox 41"/>
          <p:cNvSpPr txBox="1"/>
          <p:nvPr/>
        </p:nvSpPr>
        <p:spPr>
          <a:xfrm>
            <a:off x="8046720" y="3858768"/>
            <a:ext cx="3200400" cy="274320"/>
          </a:xfrm>
          <a:prstGeom prst="rect">
            <a:avLst/>
          </a:prstGeom>
          <a:noFill/>
        </p:spPr>
        <p:txBody>
          <a:bodyPr wrap="square" anchor="t">
            <a:spAutoFit/>
          </a:bodyPr>
          <a:lstStyle/>
          <a:p>
            <a:pPr algn="l">
              <a:lnSpc>
                <a:spcPct val="100000"/>
              </a:lnSpc>
              <a:spcAft>
                <a:spcPts val="200"/>
              </a:spcAft>
            </a:pPr>
            <a:r>
              <a:rPr sz="1000" b="0">
                <a:solidFill>
                  <a:srgbClr val="8EA3C0"/>
                </a:solidFill>
                <a:latin typeface="Calibri"/>
              </a:rPr>
              <a:t>worst frame gap in 15 s</a:t>
            </a:r>
          </a:p>
        </p:txBody>
      </p:sp>
      <p:sp>
        <p:nvSpPr>
          <p:cNvPr id="43" name="TextBox 42"/>
          <p:cNvSpPr txBox="1"/>
          <p:nvPr/>
        </p:nvSpPr>
        <p:spPr>
          <a:xfrm>
            <a:off x="8046720" y="4169664"/>
            <a:ext cx="3200400" cy="365760"/>
          </a:xfrm>
          <a:prstGeom prst="rect">
            <a:avLst/>
          </a:prstGeom>
          <a:noFill/>
        </p:spPr>
        <p:txBody>
          <a:bodyPr wrap="square" anchor="t">
            <a:spAutoFit/>
          </a:bodyPr>
          <a:lstStyle/>
          <a:p>
            <a:pPr algn="l">
              <a:lnSpc>
                <a:spcPct val="100000"/>
              </a:lnSpc>
              <a:spcAft>
                <a:spcPts val="200"/>
              </a:spcAft>
            </a:pPr>
            <a:r>
              <a:rPr sz="2000" b="1">
                <a:solidFill>
                  <a:srgbClr val="22C55E"/>
                </a:solidFill>
                <a:latin typeface="Calibri"/>
              </a:rPr>
              <a:t>225</a:t>
            </a:r>
          </a:p>
        </p:txBody>
      </p:sp>
      <p:sp>
        <p:nvSpPr>
          <p:cNvPr id="44" name="TextBox 43"/>
          <p:cNvSpPr txBox="1"/>
          <p:nvPr/>
        </p:nvSpPr>
        <p:spPr>
          <a:xfrm>
            <a:off x="8046720" y="4517136"/>
            <a:ext cx="3200400" cy="274320"/>
          </a:xfrm>
          <a:prstGeom prst="rect">
            <a:avLst/>
          </a:prstGeom>
          <a:noFill/>
        </p:spPr>
        <p:txBody>
          <a:bodyPr wrap="square" anchor="t">
            <a:spAutoFit/>
          </a:bodyPr>
          <a:lstStyle/>
          <a:p>
            <a:pPr algn="l">
              <a:lnSpc>
                <a:spcPct val="100000"/>
              </a:lnSpc>
              <a:spcAft>
                <a:spcPts val="200"/>
              </a:spcAft>
            </a:pPr>
            <a:r>
              <a:rPr sz="1000" b="0">
                <a:solidFill>
                  <a:srgbClr val="8EA3C0"/>
                </a:solidFill>
                <a:latin typeface="Calibri"/>
              </a:rPr>
              <a:t>detection events streamed</a:t>
            </a:r>
          </a:p>
        </p:txBody>
      </p:sp>
      <p:sp>
        <p:nvSpPr>
          <p:cNvPr id="45" name="TextBox 44"/>
          <p:cNvSpPr txBox="1"/>
          <p:nvPr/>
        </p:nvSpPr>
        <p:spPr>
          <a:xfrm>
            <a:off x="8046720" y="4828031"/>
            <a:ext cx="3200400" cy="365760"/>
          </a:xfrm>
          <a:prstGeom prst="rect">
            <a:avLst/>
          </a:prstGeom>
          <a:noFill/>
        </p:spPr>
        <p:txBody>
          <a:bodyPr wrap="square" anchor="t">
            <a:spAutoFit/>
          </a:bodyPr>
          <a:lstStyle/>
          <a:p>
            <a:pPr algn="l">
              <a:lnSpc>
                <a:spcPct val="100000"/>
              </a:lnSpc>
              <a:spcAft>
                <a:spcPts val="200"/>
              </a:spcAft>
            </a:pPr>
            <a:r>
              <a:rPr sz="2000" b="1">
                <a:solidFill>
                  <a:srgbClr val="22C55E"/>
                </a:solidFill>
                <a:latin typeface="Calibri"/>
              </a:rPr>
              <a:t>streaming</a:t>
            </a:r>
          </a:p>
        </p:txBody>
      </p:sp>
      <p:sp>
        <p:nvSpPr>
          <p:cNvPr id="46" name="TextBox 45"/>
          <p:cNvSpPr txBox="1"/>
          <p:nvPr/>
        </p:nvSpPr>
        <p:spPr>
          <a:xfrm>
            <a:off x="8046720" y="5175504"/>
            <a:ext cx="3200400" cy="274320"/>
          </a:xfrm>
          <a:prstGeom prst="rect">
            <a:avLst/>
          </a:prstGeom>
          <a:noFill/>
        </p:spPr>
        <p:txBody>
          <a:bodyPr wrap="square" anchor="t">
            <a:spAutoFit/>
          </a:bodyPr>
          <a:lstStyle/>
          <a:p>
            <a:pPr algn="l">
              <a:lnSpc>
                <a:spcPct val="100000"/>
              </a:lnSpc>
              <a:spcAft>
                <a:spcPts val="200"/>
              </a:spcAft>
            </a:pPr>
            <a:r>
              <a:rPr sz="1000" b="0">
                <a:solidFill>
                  <a:srgbClr val="8EA3C0"/>
                </a:solidFill>
                <a:latin typeface="Calibri"/>
              </a:rPr>
              <a:t>MAVLink link state, USB-OTG</a:t>
            </a:r>
          </a:p>
        </p:txBody>
      </p:sp>
      <p:sp>
        <p:nvSpPr>
          <p:cNvPr id="47" name="TextBox 46"/>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48" name="TextBox 47"/>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F59E0B"/>
                </a:solidFill>
                <a:latin typeface="Calibri"/>
              </a:rPr>
              <a:t>INNOVATION · USP 2</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A physics engine inside the AI — the veto that earns trust</a:t>
            </a:r>
          </a:p>
        </p:txBody>
      </p:sp>
      <p:pic>
        <p:nvPicPr>
          <p:cNvPr id="6" name="Picture 5" descr="pitch_physics.png"/>
          <p:cNvPicPr>
            <a:picLocks noChangeAspect="1"/>
          </p:cNvPicPr>
          <p:nvPr/>
        </p:nvPicPr>
        <p:blipFill>
          <a:blip r:embed="rId2"/>
          <a:stretch>
            <a:fillRect/>
          </a:stretch>
        </p:blipFill>
        <p:spPr>
          <a:xfrm>
            <a:off x="777240" y="1554480"/>
            <a:ext cx="5852160" cy="1734197"/>
          </a:xfrm>
          <a:prstGeom prst="rect">
            <a:avLst/>
          </a:prstGeom>
        </p:spPr>
      </p:pic>
      <p:sp>
        <p:nvSpPr>
          <p:cNvPr id="7" name="TextBox 6"/>
          <p:cNvSpPr txBox="1"/>
          <p:nvPr/>
        </p:nvSpPr>
        <p:spPr>
          <a:xfrm>
            <a:off x="6858000" y="1600200"/>
            <a:ext cx="4663440" cy="4206240"/>
          </a:xfrm>
          <a:prstGeom prst="rect">
            <a:avLst/>
          </a:prstGeom>
          <a:noFill/>
        </p:spPr>
        <p:txBody>
          <a:bodyPr wrap="square" anchor="t">
            <a:spAutoFit/>
          </a:bodyPr>
          <a:lstStyle/>
          <a:p>
            <a:pPr algn="l">
              <a:lnSpc>
                <a:spcPct val="105000"/>
              </a:lnSpc>
              <a:spcAft>
                <a:spcPts val="400"/>
              </a:spcAft>
            </a:pPr>
            <a:r>
              <a:rPr sz="1300" b="1">
                <a:solidFill>
                  <a:srgbClr val="F59E0B"/>
                </a:solidFill>
                <a:latin typeface="Calibri"/>
              </a:rPr>
              <a:t>▸  </a:t>
            </a:r>
            <a:r>
              <a:rPr sz="1300" b="1">
                <a:solidFill>
                  <a:srgbClr val="E5EDF8"/>
                </a:solidFill>
                <a:latin typeface="Calibri"/>
              </a:rPr>
              <a:t>Radiometric, not video. </a:t>
            </a:r>
            <a:r>
              <a:rPr sz="1300" b="0">
                <a:solidFill>
                  <a:srgbClr val="8EA3C0"/>
                </a:solidFill>
                <a:latin typeface="Calibri"/>
              </a:rPr>
              <a:t>We read degrees Celsius, not pixels: a body is 30–37 °C against 15 °C flood water. Sun-heated roofs are the classic false alarm — temperature plus projected size rejects them.</a:t>
            </a:r>
          </a:p>
          <a:p>
            <a:pPr algn="l">
              <a:lnSpc>
                <a:spcPct val="105000"/>
              </a:lnSpc>
              <a:spcAft>
                <a:spcPts val="400"/>
              </a:spcAft>
            </a:pPr>
            <a:r>
              <a:rPr sz="1300" b="1">
                <a:solidFill>
                  <a:srgbClr val="F59E0B"/>
                </a:solidFill>
                <a:latin typeface="Calibri"/>
              </a:rPr>
              <a:t>▸  </a:t>
            </a:r>
            <a:r>
              <a:rPr sz="1300" b="1">
                <a:solidFill>
                  <a:srgbClr val="E5EDF8"/>
                </a:solidFill>
                <a:latin typeface="Calibri"/>
              </a:rPr>
              <a:t>Geometry veto. </a:t>
            </a:r>
            <a:r>
              <a:rPr sz="1300" b="0">
                <a:solidFill>
                  <a:srgbClr val="8EA3C0"/>
                </a:solidFill>
                <a:latin typeface="Calibri"/>
              </a:rPr>
              <a:t>A detection must match the footprint a human body would occupy at that range and GSD, or it is refused.</a:t>
            </a:r>
          </a:p>
          <a:p>
            <a:pPr algn="l">
              <a:lnSpc>
                <a:spcPct val="105000"/>
              </a:lnSpc>
              <a:spcAft>
                <a:spcPts val="400"/>
              </a:spcAft>
            </a:pPr>
            <a:r>
              <a:rPr sz="1300" b="1">
                <a:solidFill>
                  <a:srgbClr val="F59E0B"/>
                </a:solidFill>
                <a:latin typeface="Calibri"/>
              </a:rPr>
              <a:t>▸  </a:t>
            </a:r>
            <a:r>
              <a:rPr sz="1300" b="1">
                <a:solidFill>
                  <a:srgbClr val="E5EDF8"/>
                </a:solidFill>
                <a:latin typeface="Calibri"/>
              </a:rPr>
              <a:t>Two-pass confirmation. </a:t>
            </a:r>
            <a:r>
              <a:rPr sz="1300" b="0">
                <a:solidFill>
                  <a:srgbClr val="8EA3C0"/>
                </a:solidFill>
                <a:latin typeface="Calibri"/>
              </a:rPr>
              <a:t>Survey at 45 m to find, descend to 22 m to confirm. Certainty is bought with altitude.</a:t>
            </a:r>
          </a:p>
          <a:p>
            <a:pPr algn="l">
              <a:lnSpc>
                <a:spcPct val="105000"/>
              </a:lnSpc>
              <a:spcAft>
                <a:spcPts val="400"/>
              </a:spcAft>
            </a:pPr>
            <a:r>
              <a:rPr sz="1300" b="1">
                <a:solidFill>
                  <a:srgbClr val="F59E0B"/>
                </a:solidFill>
                <a:latin typeface="Calibri"/>
              </a:rPr>
              <a:t>▸  </a:t>
            </a:r>
            <a:r>
              <a:rPr sz="1300" b="1">
                <a:solidFill>
                  <a:srgbClr val="E5EDF8"/>
                </a:solidFill>
                <a:latin typeface="Calibri"/>
              </a:rPr>
              <a:t>Calibrated confidence. </a:t>
            </a:r>
            <a:r>
              <a:rPr sz="1300" b="0">
                <a:solidFill>
                  <a:srgbClr val="8EA3C0"/>
                </a:solidFill>
                <a:latin typeface="Calibri"/>
              </a:rPr>
              <a:t>Scores are Platt-scaled into probabilities before the belief map composes them — an over-confident 0.9 would mark ground as searched and never return.</a:t>
            </a:r>
          </a:p>
          <a:p>
            <a:pPr algn="l">
              <a:lnSpc>
                <a:spcPct val="105000"/>
              </a:lnSpc>
              <a:spcAft>
                <a:spcPts val="400"/>
              </a:spcAft>
            </a:pPr>
            <a:r>
              <a:rPr sz="1300" b="1">
                <a:solidFill>
                  <a:srgbClr val="F59E0B"/>
                </a:solidFill>
                <a:latin typeface="Calibri"/>
              </a:rPr>
              <a:t>▸  </a:t>
            </a:r>
            <a:r>
              <a:rPr sz="1300" b="1">
                <a:solidFill>
                  <a:srgbClr val="E5EDF8"/>
                </a:solidFill>
                <a:latin typeface="Calibri"/>
              </a:rPr>
              <a:t>Quantisation gate. </a:t>
            </a:r>
            <a:r>
              <a:rPr sz="1300" b="0">
                <a:solidFill>
                  <a:srgbClr val="8EA3C0"/>
                </a:solidFill>
                <a:latin typeface="Calibri"/>
              </a:rPr>
              <a:t>An INT8 model flies only if it retains ≥97% of FP32 recall. The script refuses; discipline is not required.</a:t>
            </a:r>
          </a:p>
        </p:txBody>
      </p:sp>
      <p:sp>
        <p:nvSpPr>
          <p:cNvPr id="8" name="Rounded Rectangle 7"/>
          <p:cNvSpPr/>
          <p:nvPr/>
        </p:nvSpPr>
        <p:spPr>
          <a:xfrm>
            <a:off x="777240" y="5486400"/>
            <a:ext cx="5852160" cy="77724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632704"/>
            <a:ext cx="5486400" cy="457200"/>
          </a:xfrm>
          <a:prstGeom prst="rect">
            <a:avLst/>
          </a:prstGeom>
          <a:noFill/>
        </p:spPr>
        <p:txBody>
          <a:bodyPr wrap="square" anchor="t">
            <a:spAutoFit/>
          </a:bodyPr>
          <a:lstStyle/>
          <a:p>
            <a:pPr algn="l">
              <a:lnSpc>
                <a:spcPct val="100000"/>
              </a:lnSpc>
              <a:spcAft>
                <a:spcPts val="200"/>
              </a:spcAft>
            </a:pPr>
            <a:r>
              <a:rPr sz="1500" b="1">
                <a:solidFill>
                  <a:srgbClr val="22C55E"/>
                </a:solidFill>
                <a:latin typeface="Calibri"/>
              </a:rPr>
              <a:t>Measured: precision 1.000 </a:t>
            </a:r>
            <a:r>
              <a:rPr sz="1300" b="0">
                <a:solidFill>
                  <a:srgbClr val="8EA3C0"/>
                </a:solidFill>
                <a:latin typeface="Calibri"/>
              </a:rPr>
              <a:t>on 120 held-out frames — zero false alarms, where the heuristic-only ensemble managed ~17%.</a:t>
            </a:r>
          </a:p>
        </p:txBody>
      </p:sp>
      <p:sp>
        <p:nvSpPr>
          <p:cNvPr id="10" name="TextBox 9"/>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11" name="TextBox 10"/>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38BDF8"/>
                </a:solidFill>
                <a:latin typeface="Calibri"/>
              </a:rPr>
              <a:t>HOW IT SEARCHES &amp; SEES</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Coverage you can prove, detections you can audit</a:t>
            </a:r>
          </a:p>
        </p:txBody>
      </p:sp>
      <p:pic>
        <p:nvPicPr>
          <p:cNvPr id="6" name="Picture 5" descr="pitch_02_coverage.png"/>
          <p:cNvPicPr>
            <a:picLocks noChangeAspect="1"/>
          </p:cNvPicPr>
          <p:nvPr/>
        </p:nvPicPr>
        <p:blipFill>
          <a:blip r:embed="rId2"/>
          <a:stretch>
            <a:fillRect/>
          </a:stretch>
        </p:blipFill>
        <p:spPr>
          <a:xfrm>
            <a:off x="777240" y="1554480"/>
            <a:ext cx="5120640" cy="2240692"/>
          </a:xfrm>
          <a:prstGeom prst="rect">
            <a:avLst/>
          </a:prstGeom>
        </p:spPr>
      </p:pic>
      <p:pic>
        <p:nvPicPr>
          <p:cNvPr id="7" name="Picture 6" descr="pitch_03_detection.png"/>
          <p:cNvPicPr>
            <a:picLocks noChangeAspect="1"/>
          </p:cNvPicPr>
          <p:nvPr/>
        </p:nvPicPr>
        <p:blipFill>
          <a:blip r:embed="rId3"/>
          <a:stretch>
            <a:fillRect/>
          </a:stretch>
        </p:blipFill>
        <p:spPr>
          <a:xfrm>
            <a:off x="6126480" y="1554480"/>
            <a:ext cx="5303520" cy="2039241"/>
          </a:xfrm>
          <a:prstGeom prst="rect">
            <a:avLst/>
          </a:prstGeom>
        </p:spPr>
      </p:pic>
      <p:sp>
        <p:nvSpPr>
          <p:cNvPr id="8" name="TextBox 7"/>
          <p:cNvSpPr txBox="1"/>
          <p:nvPr/>
        </p:nvSpPr>
        <p:spPr>
          <a:xfrm>
            <a:off x="777240" y="4709160"/>
            <a:ext cx="5212080" cy="1737360"/>
          </a:xfrm>
          <a:prstGeom prst="rect">
            <a:avLst/>
          </a:prstGeom>
          <a:noFill/>
        </p:spPr>
        <p:txBody>
          <a:bodyPr wrap="square" anchor="t">
            <a:spAutoFit/>
          </a:bodyPr>
          <a:lstStyle/>
          <a:p>
            <a:pPr algn="l">
              <a:lnSpc>
                <a:spcPct val="105000"/>
              </a:lnSpc>
              <a:spcAft>
                <a:spcPts val="400"/>
              </a:spcAft>
            </a:pPr>
            <a:r>
              <a:rPr sz="1250" b="1">
                <a:solidFill>
                  <a:srgbClr val="38BDF8"/>
                </a:solidFill>
                <a:latin typeface="Calibri"/>
              </a:rPr>
              <a:t>▸  </a:t>
            </a:r>
            <a:r>
              <a:rPr sz="1250" b="1">
                <a:solidFill>
                  <a:srgbClr val="E5EDF8"/>
                </a:solidFill>
                <a:latin typeface="Calibri"/>
              </a:rPr>
              <a:t>Lanes from search theory: </a:t>
            </a:r>
            <a:r>
              <a:rPr sz="1250" b="0">
                <a:solidFill>
                  <a:srgbClr val="8EA3C0"/>
                </a:solidFill>
                <a:latin typeface="Calibri"/>
              </a:rPr>
              <a:t>lane spacing = sensor swath × detection probability target, so 'searched' is a number, not a hope.</a:t>
            </a:r>
          </a:p>
          <a:p>
            <a:pPr algn="l">
              <a:lnSpc>
                <a:spcPct val="105000"/>
              </a:lnSpc>
              <a:spcAft>
                <a:spcPts val="400"/>
              </a:spcAft>
            </a:pPr>
            <a:r>
              <a:rPr sz="1250" b="1">
                <a:solidFill>
                  <a:srgbClr val="38BDF8"/>
                </a:solidFill>
                <a:latin typeface="Calibri"/>
              </a:rPr>
              <a:t>▸  </a:t>
            </a:r>
            <a:r>
              <a:rPr sz="1250" b="1">
                <a:solidFill>
                  <a:srgbClr val="E5EDF8"/>
                </a:solidFill>
                <a:latin typeface="Calibri"/>
              </a:rPr>
              <a:t>Belief map, not a heatmap: </a:t>
            </a:r>
            <a:r>
              <a:rPr sz="1250" b="0">
                <a:solidFill>
                  <a:srgbClr val="8EA3C0"/>
                </a:solidFill>
                <a:latin typeface="Calibri"/>
              </a:rPr>
              <a:t>every negative observation lowers the posterior; the planner returns to what it has not seen.</a:t>
            </a:r>
          </a:p>
        </p:txBody>
      </p:sp>
      <p:sp>
        <p:nvSpPr>
          <p:cNvPr id="9" name="TextBox 8"/>
          <p:cNvSpPr txBox="1"/>
          <p:nvPr/>
        </p:nvSpPr>
        <p:spPr>
          <a:xfrm>
            <a:off x="6126480" y="4709160"/>
            <a:ext cx="5303520" cy="1737360"/>
          </a:xfrm>
          <a:prstGeom prst="rect">
            <a:avLst/>
          </a:prstGeom>
          <a:noFill/>
        </p:spPr>
        <p:txBody>
          <a:bodyPr wrap="square" anchor="t">
            <a:spAutoFit/>
          </a:bodyPr>
          <a:lstStyle/>
          <a:p>
            <a:pPr algn="l">
              <a:lnSpc>
                <a:spcPct val="105000"/>
              </a:lnSpc>
              <a:spcAft>
                <a:spcPts val="400"/>
              </a:spcAft>
            </a:pPr>
            <a:r>
              <a:rPr sz="1250" b="1">
                <a:solidFill>
                  <a:srgbClr val="38BDF8"/>
                </a:solidFill>
                <a:latin typeface="Calibri"/>
              </a:rPr>
              <a:t>▸  </a:t>
            </a:r>
            <a:r>
              <a:rPr sz="1250" b="1">
                <a:solidFill>
                  <a:srgbClr val="E5EDF8"/>
                </a:solidFill>
                <a:latin typeface="Calibri"/>
              </a:rPr>
              <a:t>YOLO11n-P2 on both modalities, </a:t>
            </a:r>
            <a:r>
              <a:rPr sz="1250" b="0">
                <a:solidFill>
                  <a:srgbClr val="8EA3C0"/>
                </a:solidFill>
                <a:latin typeface="Calibri"/>
              </a:rPr>
              <a:t>trained on HIT-UAV, AIResQ and SARD postures on a free Kaggle GPU; published ceiling mAP50 ≈ 0.55 and we say so.</a:t>
            </a:r>
          </a:p>
          <a:p>
            <a:pPr algn="l">
              <a:lnSpc>
                <a:spcPct val="105000"/>
              </a:lnSpc>
              <a:spcAft>
                <a:spcPts val="400"/>
              </a:spcAft>
            </a:pPr>
            <a:r>
              <a:rPr sz="1250" b="1">
                <a:solidFill>
                  <a:srgbClr val="38BDF8"/>
                </a:solidFill>
                <a:latin typeface="Calibri"/>
              </a:rPr>
              <a:t>▸  </a:t>
            </a:r>
            <a:r>
              <a:rPr sz="1250" b="1">
                <a:solidFill>
                  <a:srgbClr val="E5EDF8"/>
                </a:solidFill>
                <a:latin typeface="Calibri"/>
              </a:rPr>
              <a:t>2 Hz perception, 165 ms budget: </a:t>
            </a:r>
            <a:r>
              <a:rPr sz="1250" b="0">
                <a:solidFill>
                  <a:srgbClr val="8EA3C0"/>
                </a:solidFill>
                <a:latin typeface="Calibri"/>
              </a:rPr>
              <a:t>25 ms per modality on the NPU leaves the rest of the loop room to think.</a:t>
            </a:r>
          </a:p>
        </p:txBody>
      </p:sp>
      <p:sp>
        <p:nvSpPr>
          <p:cNvPr id="10" name="TextBox 9"/>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11" name="TextBox 10"/>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22C55E"/>
                </a:solidFill>
                <a:latin typeface="Calibri"/>
              </a:rPr>
              <a:t>WHEN INFRASTRUCTURE DIES</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No GPS, no network — the mission continues</a:t>
            </a:r>
          </a:p>
        </p:txBody>
      </p:sp>
      <p:pic>
        <p:nvPicPr>
          <p:cNvPr id="6" name="Picture 5" descr="pitch_04_gps.png"/>
          <p:cNvPicPr>
            <a:picLocks noChangeAspect="1"/>
          </p:cNvPicPr>
          <p:nvPr/>
        </p:nvPicPr>
        <p:blipFill>
          <a:blip r:embed="rId2"/>
          <a:stretch>
            <a:fillRect/>
          </a:stretch>
        </p:blipFill>
        <p:spPr>
          <a:xfrm>
            <a:off x="777240" y="1554480"/>
            <a:ext cx="5120640" cy="2145792"/>
          </a:xfrm>
          <a:prstGeom prst="rect">
            <a:avLst/>
          </a:prstGeom>
        </p:spPr>
      </p:pic>
      <p:pic>
        <p:nvPicPr>
          <p:cNvPr id="7" name="Picture 6" descr="pitch_05_comms.png"/>
          <p:cNvPicPr>
            <a:picLocks noChangeAspect="1"/>
          </p:cNvPicPr>
          <p:nvPr/>
        </p:nvPicPr>
        <p:blipFill>
          <a:blip r:embed="rId3"/>
          <a:stretch>
            <a:fillRect/>
          </a:stretch>
        </p:blipFill>
        <p:spPr>
          <a:xfrm>
            <a:off x="6126480" y="1554480"/>
            <a:ext cx="5303520" cy="2121408"/>
          </a:xfrm>
          <a:prstGeom prst="rect">
            <a:avLst/>
          </a:prstGeom>
        </p:spPr>
      </p:pic>
      <p:sp>
        <p:nvSpPr>
          <p:cNvPr id="8" name="TextBox 7"/>
          <p:cNvSpPr txBox="1"/>
          <p:nvPr/>
        </p:nvSpPr>
        <p:spPr>
          <a:xfrm>
            <a:off x="777240" y="4709160"/>
            <a:ext cx="5212080" cy="1737360"/>
          </a:xfrm>
          <a:prstGeom prst="rect">
            <a:avLst/>
          </a:prstGeom>
          <a:noFill/>
        </p:spPr>
        <p:txBody>
          <a:bodyPr wrap="square" anchor="t">
            <a:spAutoFit/>
          </a:bodyPr>
          <a:lstStyle/>
          <a:p>
            <a:pPr algn="l">
              <a:lnSpc>
                <a:spcPct val="105000"/>
              </a:lnSpc>
              <a:spcAft>
                <a:spcPts val="400"/>
              </a:spcAft>
            </a:pPr>
            <a:r>
              <a:rPr sz="1250" b="1">
                <a:solidFill>
                  <a:srgbClr val="22C55E"/>
                </a:solidFill>
                <a:latin typeface="Calibri"/>
              </a:rPr>
              <a:t>▸  </a:t>
            </a:r>
            <a:r>
              <a:rPr sz="1250" b="1">
                <a:solidFill>
                  <a:srgbClr val="E5EDF8"/>
                </a:solidFill>
                <a:latin typeface="Calibri"/>
              </a:rPr>
              <a:t>GNSS-denied: </a:t>
            </a:r>
            <a:r>
              <a:rPr sz="1250" b="0">
                <a:solidFill>
                  <a:srgbClr val="8EA3C0"/>
                </a:solidFill>
                <a:latin typeface="Calibri"/>
              </a:rPr>
              <a:t>phone VIO + lidar odometry feed the EKF; the source manager switches mid-flight and the safety supervisor watches the position sigma, ending the sortie past 25 m.</a:t>
            </a:r>
          </a:p>
          <a:p>
            <a:pPr algn="l">
              <a:lnSpc>
                <a:spcPct val="105000"/>
              </a:lnSpc>
              <a:spcAft>
                <a:spcPts val="400"/>
              </a:spcAft>
            </a:pPr>
            <a:r>
              <a:rPr sz="1250" b="1">
                <a:solidFill>
                  <a:srgbClr val="22C55E"/>
                </a:solidFill>
                <a:latin typeface="Calibri"/>
              </a:rPr>
              <a:t>▸  </a:t>
            </a:r>
            <a:r>
              <a:rPr sz="1250" b="1">
                <a:solidFill>
                  <a:srgbClr val="E5EDF8"/>
                </a:solidFill>
                <a:latin typeface="Calibri"/>
              </a:rPr>
              <a:t>Tested: </a:t>
            </a:r>
            <a:r>
              <a:rPr sz="1250" b="0">
                <a:solidFill>
                  <a:srgbClr val="8EA3C0"/>
                </a:solidFill>
                <a:latin typeface="Calibri"/>
              </a:rPr>
              <a:t>a denial injected mid-survey is recovered, not crashed.</a:t>
            </a:r>
          </a:p>
        </p:txBody>
      </p:sp>
      <p:sp>
        <p:nvSpPr>
          <p:cNvPr id="9" name="TextBox 8"/>
          <p:cNvSpPr txBox="1"/>
          <p:nvPr/>
        </p:nvSpPr>
        <p:spPr>
          <a:xfrm>
            <a:off x="6126480" y="4709160"/>
            <a:ext cx="5303520" cy="1737360"/>
          </a:xfrm>
          <a:prstGeom prst="rect">
            <a:avLst/>
          </a:prstGeom>
          <a:noFill/>
        </p:spPr>
        <p:txBody>
          <a:bodyPr wrap="square" anchor="t">
            <a:spAutoFit/>
          </a:bodyPr>
          <a:lstStyle/>
          <a:p>
            <a:pPr algn="l">
              <a:lnSpc>
                <a:spcPct val="105000"/>
              </a:lnSpc>
              <a:spcAft>
                <a:spcPts val="400"/>
              </a:spcAft>
            </a:pPr>
            <a:r>
              <a:rPr sz="1250" b="1">
                <a:solidFill>
                  <a:srgbClr val="22C55E"/>
                </a:solidFill>
                <a:latin typeface="Calibri"/>
              </a:rPr>
              <a:t>▸  </a:t>
            </a:r>
            <a:r>
              <a:rPr sz="1250" b="1">
                <a:solidFill>
                  <a:srgbClr val="E5EDF8"/>
                </a:solidFill>
                <a:latin typeface="Calibri"/>
              </a:rPr>
              <a:t>LoRa 900 MHz store-and-forward: </a:t>
            </a:r>
            <a:r>
              <a:rPr sz="1250" b="0">
                <a:solidFill>
                  <a:srgbClr val="8EA3C0"/>
                </a:solidFill>
                <a:latin typeface="Calibri"/>
              </a:rPr>
              <a:t>200-byte verified packets, acked and re-queued; a saturated link degrades to fewer reports, never to silence.</a:t>
            </a:r>
          </a:p>
          <a:p>
            <a:pPr algn="l">
              <a:lnSpc>
                <a:spcPct val="105000"/>
              </a:lnSpc>
              <a:spcAft>
                <a:spcPts val="400"/>
              </a:spcAft>
            </a:pPr>
            <a:r>
              <a:rPr sz="1250" b="1">
                <a:solidFill>
                  <a:srgbClr val="22C55E"/>
                </a:solidFill>
                <a:latin typeface="Calibri"/>
              </a:rPr>
              <a:t>▸  </a:t>
            </a:r>
            <a:r>
              <a:rPr sz="1250" b="1">
                <a:solidFill>
                  <a:srgbClr val="E5EDF8"/>
                </a:solidFill>
                <a:latin typeface="Calibri"/>
              </a:rPr>
              <a:t>ELRS is control only. </a:t>
            </a:r>
            <a:r>
              <a:rPr sz="1250" b="0">
                <a:solidFill>
                  <a:srgbClr val="8EA3C0"/>
                </a:solidFill>
                <a:latin typeface="Calibri"/>
              </a:rPr>
              <a:t>The alert path does not depend on it.</a:t>
            </a:r>
          </a:p>
        </p:txBody>
      </p:sp>
      <p:sp>
        <p:nvSpPr>
          <p:cNvPr id="10" name="TextBox 9"/>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11" name="TextBox 10"/>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DC2626"/>
                </a:solidFill>
                <a:latin typeface="Calibri"/>
              </a:rPr>
              <a:t>FROM DETECTION TO DELIVERY</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Payload on the survivor, a safe path for the team</a:t>
            </a:r>
          </a:p>
        </p:txBody>
      </p:sp>
      <p:pic>
        <p:nvPicPr>
          <p:cNvPr id="6" name="Picture 5" descr="pitch_06_rescue.png"/>
          <p:cNvPicPr>
            <a:picLocks noChangeAspect="1"/>
          </p:cNvPicPr>
          <p:nvPr/>
        </p:nvPicPr>
        <p:blipFill>
          <a:blip r:embed="rId2"/>
          <a:stretch>
            <a:fillRect/>
          </a:stretch>
        </p:blipFill>
        <p:spPr>
          <a:xfrm>
            <a:off x="777240" y="1554480"/>
            <a:ext cx="5852160" cy="2396599"/>
          </a:xfrm>
          <a:prstGeom prst="rect">
            <a:avLst/>
          </a:prstGeom>
        </p:spPr>
      </p:pic>
      <p:sp>
        <p:nvSpPr>
          <p:cNvPr id="7" name="TextBox 6"/>
          <p:cNvSpPr txBox="1"/>
          <p:nvPr/>
        </p:nvSpPr>
        <p:spPr>
          <a:xfrm>
            <a:off x="6858000" y="1600200"/>
            <a:ext cx="4663440" cy="4206240"/>
          </a:xfrm>
          <a:prstGeom prst="rect">
            <a:avLst/>
          </a:prstGeom>
          <a:noFill/>
        </p:spPr>
        <p:txBody>
          <a:bodyPr wrap="square" anchor="t">
            <a:spAutoFit/>
          </a:bodyPr>
          <a:lstStyle/>
          <a:p>
            <a:pPr algn="l">
              <a:lnSpc>
                <a:spcPct val="105000"/>
              </a:lnSpc>
              <a:spcAft>
                <a:spcPts val="400"/>
              </a:spcAft>
            </a:pPr>
            <a:r>
              <a:rPr sz="1300" b="1">
                <a:solidFill>
                  <a:srgbClr val="DC2626"/>
                </a:solidFill>
                <a:latin typeface="Calibri"/>
              </a:rPr>
              <a:t>▸  </a:t>
            </a:r>
            <a:r>
              <a:rPr sz="1300" b="1">
                <a:solidFill>
                  <a:srgbClr val="E5EDF8"/>
                </a:solidFill>
                <a:latin typeface="Calibri"/>
              </a:rPr>
              <a:t>Confirm, then commit. </a:t>
            </a:r>
            <a:r>
              <a:rPr sz="1300" b="0">
                <a:solidFill>
                  <a:srgbClr val="8EA3C0"/>
                </a:solidFill>
                <a:latin typeface="Calibri"/>
              </a:rPr>
              <a:t>The two-pass altitude profile ends with a hover at 22 m and a servo latch on channel 9 — flotation or meds, on the survivor, not in the water next to them.</a:t>
            </a:r>
          </a:p>
          <a:p>
            <a:pPr algn="l">
              <a:lnSpc>
                <a:spcPct val="105000"/>
              </a:lnSpc>
              <a:spcAft>
                <a:spcPts val="400"/>
              </a:spcAft>
            </a:pPr>
            <a:r>
              <a:rPr sz="1300" b="1">
                <a:solidFill>
                  <a:srgbClr val="DC2626"/>
                </a:solidFill>
                <a:latin typeface="Calibri"/>
              </a:rPr>
              <a:t>▸  </a:t>
            </a:r>
            <a:r>
              <a:rPr sz="1300" b="1">
                <a:solidFill>
                  <a:srgbClr val="E5EDF8"/>
                </a:solidFill>
                <a:latin typeface="Calibri"/>
              </a:rPr>
              <a:t>Route the humans. </a:t>
            </a:r>
            <a:r>
              <a:rPr sz="1300" b="0">
                <a:solidFill>
                  <a:srgbClr val="8EA3C0"/>
                </a:solidFill>
                <a:latin typeface="Calibri"/>
              </a:rPr>
              <a:t>A* over the hazard field gives the ground team a walkable, flood-aware path to the same point.</a:t>
            </a:r>
          </a:p>
          <a:p>
            <a:pPr algn="l">
              <a:lnSpc>
                <a:spcPct val="105000"/>
              </a:lnSpc>
              <a:spcAft>
                <a:spcPts val="400"/>
              </a:spcAft>
            </a:pPr>
            <a:r>
              <a:rPr sz="1300" b="1">
                <a:solidFill>
                  <a:srgbClr val="DC2626"/>
                </a:solidFill>
                <a:latin typeface="Calibri"/>
              </a:rPr>
              <a:t>▸  </a:t>
            </a:r>
            <a:r>
              <a:rPr sz="1300" b="1">
                <a:solidFill>
                  <a:srgbClr val="E5EDF8"/>
                </a:solidFill>
                <a:latin typeface="Calibri"/>
              </a:rPr>
              <a:t>The supervisor outranks the mission. </a:t>
            </a:r>
            <a:r>
              <a:rPr sz="1300" b="0">
                <a:solidFill>
                  <a:srgbClr val="8EA3C0"/>
                </a:solidFill>
                <a:latin typeface="Calibri"/>
              </a:rPr>
              <a:t>12 rules — reserve 25%, wind, geofence, telemetry silence, position sigma — any one ends the sortie. Conservative on purpose; loosening needs a signed field-test entry.</a:t>
            </a:r>
          </a:p>
        </p:txBody>
      </p:sp>
      <p:sp>
        <p:nvSpPr>
          <p:cNvPr id="8" name="TextBox 7"/>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9" name="TextBox 8"/>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22C55E"/>
                </a:solidFill>
                <a:latin typeface="Calibri"/>
              </a:rPr>
              <a:t>6 · PROTOTYPE &amp; PROOF</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Not a plan. A repository with measurements in it</a:t>
            </a:r>
          </a:p>
        </p:txBody>
      </p:sp>
      <p:sp>
        <p:nvSpPr>
          <p:cNvPr id="6" name="Rounded Rectangle 5"/>
          <p:cNvSpPr/>
          <p:nvPr/>
        </p:nvSpPr>
        <p:spPr>
          <a:xfrm>
            <a:off x="777240" y="1554480"/>
            <a:ext cx="3493008" cy="118872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54480"/>
            <a:ext cx="54864" cy="1188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664207"/>
            <a:ext cx="3218688" cy="566928"/>
          </a:xfrm>
          <a:prstGeom prst="rect">
            <a:avLst/>
          </a:prstGeom>
          <a:noFill/>
        </p:spPr>
        <p:txBody>
          <a:bodyPr wrap="square" anchor="t">
            <a:spAutoFit/>
          </a:bodyPr>
          <a:lstStyle/>
          <a:p>
            <a:pPr algn="l">
              <a:lnSpc>
                <a:spcPct val="100000"/>
              </a:lnSpc>
              <a:spcAft>
                <a:spcPts val="200"/>
              </a:spcAft>
            </a:pPr>
            <a:r>
              <a:rPr sz="2600" b="1">
                <a:solidFill>
                  <a:srgbClr val="22C55E"/>
                </a:solidFill>
                <a:latin typeface="Calibri"/>
              </a:rPr>
              <a:t>180+</a:t>
            </a:r>
          </a:p>
        </p:txBody>
      </p:sp>
      <p:sp>
        <p:nvSpPr>
          <p:cNvPr id="9" name="TextBox 8"/>
          <p:cNvSpPr txBox="1"/>
          <p:nvPr/>
        </p:nvSpPr>
        <p:spPr>
          <a:xfrm>
            <a:off x="941832" y="2286000"/>
            <a:ext cx="32186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automated tests, all passing, in CI</a:t>
            </a:r>
          </a:p>
        </p:txBody>
      </p:sp>
      <p:sp>
        <p:nvSpPr>
          <p:cNvPr id="10" name="Rounded Rectangle 9"/>
          <p:cNvSpPr/>
          <p:nvPr/>
        </p:nvSpPr>
        <p:spPr>
          <a:xfrm>
            <a:off x="4453127" y="1554480"/>
            <a:ext cx="3493008" cy="118872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53127" y="1554480"/>
            <a:ext cx="54864" cy="1188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19" y="1664207"/>
            <a:ext cx="3218688" cy="566928"/>
          </a:xfrm>
          <a:prstGeom prst="rect">
            <a:avLst/>
          </a:prstGeom>
          <a:noFill/>
        </p:spPr>
        <p:txBody>
          <a:bodyPr wrap="square" anchor="t">
            <a:spAutoFit/>
          </a:bodyPr>
          <a:lstStyle/>
          <a:p>
            <a:pPr algn="l">
              <a:lnSpc>
                <a:spcPct val="100000"/>
              </a:lnSpc>
              <a:spcAft>
                <a:spcPts val="200"/>
              </a:spcAft>
            </a:pPr>
            <a:r>
              <a:rPr sz="2600" b="1">
                <a:solidFill>
                  <a:srgbClr val="38BDF8"/>
                </a:solidFill>
                <a:latin typeface="Calibri"/>
              </a:rPr>
              <a:t>1.000</a:t>
            </a:r>
          </a:p>
        </p:txBody>
      </p:sp>
      <p:sp>
        <p:nvSpPr>
          <p:cNvPr id="13" name="TextBox 12"/>
          <p:cNvSpPr txBox="1"/>
          <p:nvPr/>
        </p:nvSpPr>
        <p:spPr>
          <a:xfrm>
            <a:off x="4617719" y="2286000"/>
            <a:ext cx="32186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measured precision, 120 held-out frames</a:t>
            </a:r>
          </a:p>
        </p:txBody>
      </p:sp>
      <p:sp>
        <p:nvSpPr>
          <p:cNvPr id="14" name="Rounded Rectangle 13"/>
          <p:cNvSpPr/>
          <p:nvPr/>
        </p:nvSpPr>
        <p:spPr>
          <a:xfrm>
            <a:off x="8129015" y="1554480"/>
            <a:ext cx="3493008" cy="118872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5" y="1554480"/>
            <a:ext cx="54864" cy="1188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7" y="1664207"/>
            <a:ext cx="3218688" cy="566928"/>
          </a:xfrm>
          <a:prstGeom prst="rect">
            <a:avLst/>
          </a:prstGeom>
          <a:noFill/>
        </p:spPr>
        <p:txBody>
          <a:bodyPr wrap="square" anchor="t">
            <a:spAutoFit/>
          </a:bodyPr>
          <a:lstStyle/>
          <a:p>
            <a:pPr algn="l">
              <a:lnSpc>
                <a:spcPct val="100000"/>
              </a:lnSpc>
              <a:spcAft>
                <a:spcPts val="200"/>
              </a:spcAft>
            </a:pPr>
            <a:r>
              <a:rPr sz="2600" b="1">
                <a:solidFill>
                  <a:srgbClr val="22C55E"/>
                </a:solidFill>
                <a:latin typeface="Calibri"/>
              </a:rPr>
              <a:t>15 fps</a:t>
            </a:r>
          </a:p>
        </p:txBody>
      </p:sp>
      <p:sp>
        <p:nvSpPr>
          <p:cNvPr id="17" name="TextBox 16"/>
          <p:cNvSpPr txBox="1"/>
          <p:nvPr/>
        </p:nvSpPr>
        <p:spPr>
          <a:xfrm>
            <a:off x="8293607" y="2286000"/>
            <a:ext cx="32186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phone RGB bench, real device</a:t>
            </a:r>
          </a:p>
        </p:txBody>
      </p:sp>
      <p:sp>
        <p:nvSpPr>
          <p:cNvPr id="18" name="Rounded Rectangle 17"/>
          <p:cNvSpPr/>
          <p:nvPr/>
        </p:nvSpPr>
        <p:spPr>
          <a:xfrm>
            <a:off x="777240" y="2926080"/>
            <a:ext cx="3493008" cy="118872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2926080"/>
            <a:ext cx="54864" cy="1188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3035808"/>
            <a:ext cx="3218688" cy="566928"/>
          </a:xfrm>
          <a:prstGeom prst="rect">
            <a:avLst/>
          </a:prstGeom>
          <a:noFill/>
        </p:spPr>
        <p:txBody>
          <a:bodyPr wrap="square" anchor="t">
            <a:spAutoFit/>
          </a:bodyPr>
          <a:lstStyle/>
          <a:p>
            <a:pPr algn="l">
              <a:lnSpc>
                <a:spcPct val="100000"/>
              </a:lnSpc>
              <a:spcAft>
                <a:spcPts val="200"/>
              </a:spcAft>
            </a:pPr>
            <a:r>
              <a:rPr sz="2600" b="1">
                <a:solidFill>
                  <a:srgbClr val="38BDF8"/>
                </a:solidFill>
                <a:latin typeface="Calibri"/>
              </a:rPr>
              <a:t>260×</a:t>
            </a:r>
          </a:p>
        </p:txBody>
      </p:sp>
      <p:sp>
        <p:nvSpPr>
          <p:cNvPr id="21" name="TextBox 20"/>
          <p:cNvSpPr txBox="1"/>
          <p:nvPr/>
        </p:nvSpPr>
        <p:spPr>
          <a:xfrm>
            <a:off x="941832" y="3657600"/>
            <a:ext cx="32186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mAP gain from the P2 head, measured</a:t>
            </a:r>
          </a:p>
        </p:txBody>
      </p:sp>
      <p:sp>
        <p:nvSpPr>
          <p:cNvPr id="22" name="Rounded Rectangle 21"/>
          <p:cNvSpPr/>
          <p:nvPr/>
        </p:nvSpPr>
        <p:spPr>
          <a:xfrm>
            <a:off x="4453127" y="2926080"/>
            <a:ext cx="3493008" cy="118872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53127" y="2926080"/>
            <a:ext cx="54864" cy="11887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19" y="3035808"/>
            <a:ext cx="3218688" cy="566928"/>
          </a:xfrm>
          <a:prstGeom prst="rect">
            <a:avLst/>
          </a:prstGeom>
          <a:noFill/>
        </p:spPr>
        <p:txBody>
          <a:bodyPr wrap="square" anchor="t">
            <a:spAutoFit/>
          </a:bodyPr>
          <a:lstStyle/>
          <a:p>
            <a:pPr algn="l">
              <a:lnSpc>
                <a:spcPct val="100000"/>
              </a:lnSpc>
              <a:spcAft>
                <a:spcPts val="200"/>
              </a:spcAft>
            </a:pPr>
            <a:r>
              <a:rPr sz="2600" b="1">
                <a:solidFill>
                  <a:srgbClr val="22C55E"/>
                </a:solidFill>
                <a:latin typeface="Calibri"/>
              </a:rPr>
              <a:t>GPU</a:t>
            </a:r>
          </a:p>
        </p:txBody>
      </p:sp>
      <p:sp>
        <p:nvSpPr>
          <p:cNvPr id="25" name="TextBox 24"/>
          <p:cNvSpPr txBox="1"/>
          <p:nvPr/>
        </p:nvSpPr>
        <p:spPr>
          <a:xfrm>
            <a:off x="4617719" y="3657600"/>
            <a:ext cx="32186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full fine-tune pipeline on free Kaggle T4</a:t>
            </a:r>
          </a:p>
        </p:txBody>
      </p:sp>
      <p:sp>
        <p:nvSpPr>
          <p:cNvPr id="26" name="Rounded Rectangle 25"/>
          <p:cNvSpPr/>
          <p:nvPr/>
        </p:nvSpPr>
        <p:spPr>
          <a:xfrm>
            <a:off x="8129015" y="2926080"/>
            <a:ext cx="3493008" cy="1188720"/>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29015" y="2926080"/>
            <a:ext cx="54864" cy="11887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7" y="3035808"/>
            <a:ext cx="3218688" cy="566928"/>
          </a:xfrm>
          <a:prstGeom prst="rect">
            <a:avLst/>
          </a:prstGeom>
          <a:noFill/>
        </p:spPr>
        <p:txBody>
          <a:bodyPr wrap="square" anchor="t">
            <a:spAutoFit/>
          </a:bodyPr>
          <a:lstStyle/>
          <a:p>
            <a:pPr algn="l">
              <a:lnSpc>
                <a:spcPct val="100000"/>
              </a:lnSpc>
              <a:spcAft>
                <a:spcPts val="200"/>
              </a:spcAft>
            </a:pPr>
            <a:r>
              <a:rPr sz="2600" b="1">
                <a:solidFill>
                  <a:srgbClr val="38BDF8"/>
                </a:solidFill>
                <a:latin typeface="Calibri"/>
              </a:rPr>
              <a:t>INT8</a:t>
            </a:r>
          </a:p>
        </p:txBody>
      </p:sp>
      <p:sp>
        <p:nvSpPr>
          <p:cNvPr id="29" name="TextBox 28"/>
          <p:cNvSpPr txBox="1"/>
          <p:nvPr/>
        </p:nvSpPr>
        <p:spPr>
          <a:xfrm>
            <a:off x="8293607" y="3657600"/>
            <a:ext cx="3218688"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QNN + TFLite exports behind a 97% recall gate</a:t>
            </a:r>
          </a:p>
        </p:txBody>
      </p:sp>
      <p:sp>
        <p:nvSpPr>
          <p:cNvPr id="30" name="TextBox 29"/>
          <p:cNvSpPr txBox="1"/>
          <p:nvPr/>
        </p:nvSpPr>
        <p:spPr>
          <a:xfrm>
            <a:off x="777240" y="4480560"/>
            <a:ext cx="10698480" cy="1828800"/>
          </a:xfrm>
          <a:prstGeom prst="rect">
            <a:avLst/>
          </a:prstGeom>
          <a:noFill/>
        </p:spPr>
        <p:txBody>
          <a:bodyPr wrap="square" anchor="t">
            <a:spAutoFit/>
          </a:bodyPr>
          <a:lstStyle/>
          <a:p>
            <a:pPr algn="l">
              <a:lnSpc>
                <a:spcPct val="105000"/>
              </a:lnSpc>
              <a:spcAft>
                <a:spcPts val="400"/>
              </a:spcAft>
            </a:pPr>
            <a:r>
              <a:rPr sz="1300" b="1">
                <a:solidFill>
                  <a:srgbClr val="22C55E"/>
                </a:solidFill>
                <a:latin typeface="Calibri"/>
              </a:rPr>
              <a:t>▸  </a:t>
            </a:r>
            <a:r>
              <a:rPr sz="1300" b="1">
                <a:solidFill>
                  <a:srgbClr val="E5EDF8"/>
                </a:solidFill>
                <a:latin typeface="Calibri"/>
              </a:rPr>
              <a:t>Everything above is reproducible: </a:t>
            </a:r>
            <a:r>
              <a:rPr sz="1300" b="0">
                <a:solidFill>
                  <a:srgbClr val="8EA3C0"/>
                </a:solidFill>
                <a:latin typeface="Calibri"/>
              </a:rPr>
              <a:t>one notebook trains on a free GPU, one script exports and quantises, one command verifies checksums — a result can always be traced to the exact bytes that produced it.</a:t>
            </a:r>
          </a:p>
          <a:p>
            <a:pPr algn="l">
              <a:lnSpc>
                <a:spcPct val="105000"/>
              </a:lnSpc>
              <a:spcAft>
                <a:spcPts val="400"/>
              </a:spcAft>
            </a:pPr>
            <a:r>
              <a:rPr sz="1300" b="1">
                <a:solidFill>
                  <a:srgbClr val="22C55E"/>
                </a:solidFill>
                <a:latin typeface="Calibri"/>
              </a:rPr>
              <a:t>▸  </a:t>
            </a:r>
            <a:r>
              <a:rPr sz="1300" b="1">
                <a:solidFill>
                  <a:srgbClr val="E5EDF8"/>
                </a:solidFill>
                <a:latin typeface="Calibri"/>
              </a:rPr>
              <a:t>What is real today: </a:t>
            </a:r>
            <a:r>
              <a:rPr sz="1300" b="0">
                <a:solidFill>
                  <a:srgbClr val="8EA3C0"/>
                </a:solidFill>
                <a:latin typeface="Calibri"/>
              </a:rPr>
              <a:t>simulated sorties end-to-end, the phone bridge benchmarked on hardware, ONNX + INT8 artefacts on disk, the heuristic ensemble flying as the honest fallback.</a:t>
            </a:r>
          </a:p>
          <a:p>
            <a:pPr algn="l">
              <a:lnSpc>
                <a:spcPct val="105000"/>
              </a:lnSpc>
              <a:spcAft>
                <a:spcPts val="400"/>
              </a:spcAft>
            </a:pPr>
            <a:r>
              <a:rPr sz="1300" b="1">
                <a:solidFill>
                  <a:srgbClr val="22C55E"/>
                </a:solidFill>
                <a:latin typeface="Calibri"/>
              </a:rPr>
              <a:t>▸  </a:t>
            </a:r>
            <a:r>
              <a:rPr sz="1300" b="1">
                <a:solidFill>
                  <a:srgbClr val="E5EDF8"/>
                </a:solidFill>
                <a:latin typeface="Calibri"/>
              </a:rPr>
              <a:t>What is scheduled, said plainly: </a:t>
            </a:r>
            <a:r>
              <a:rPr sz="1300" b="0">
                <a:solidFill>
                  <a:srgbClr val="8EA3C0"/>
                </a:solidFill>
                <a:latin typeface="Calibri"/>
              </a:rPr>
              <a:t>field flights after the airframe lands; real-data weights already training on the Kaggle path.</a:t>
            </a:r>
          </a:p>
        </p:txBody>
      </p:sp>
      <p:sp>
        <p:nvSpPr>
          <p:cNvPr id="31" name="TextBox 30"/>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32" name="TextBox 31"/>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F59E0B"/>
                </a:solidFill>
                <a:latin typeface="Calibri"/>
              </a:rPr>
              <a:t>3 · FEASIBILITY</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Off-the-shelf parts, measured budgets, a fallback for everything</a:t>
            </a:r>
          </a:p>
        </p:txBody>
      </p:sp>
      <p:sp>
        <p:nvSpPr>
          <p:cNvPr id="6" name="Rectangle 5"/>
          <p:cNvSpPr/>
          <p:nvPr/>
        </p:nvSpPr>
        <p:spPr>
          <a:xfrm>
            <a:off x="777240" y="1554480"/>
            <a:ext cx="6949440" cy="457200"/>
          </a:xfrm>
          <a:prstGeom prst="rect">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27632"/>
            <a:ext cx="1554480" cy="365760"/>
          </a:xfrm>
          <a:prstGeom prst="rect">
            <a:avLst/>
          </a:prstGeom>
          <a:noFill/>
        </p:spPr>
        <p:txBody>
          <a:bodyPr wrap="square" anchor="t">
            <a:spAutoFit/>
          </a:bodyPr>
          <a:lstStyle/>
          <a:p>
            <a:pPr algn="l">
              <a:lnSpc>
                <a:spcPct val="100000"/>
              </a:lnSpc>
              <a:spcAft>
                <a:spcPts val="200"/>
              </a:spcAft>
            </a:pPr>
            <a:r>
              <a:rPr sz="1200" b="1">
                <a:solidFill>
                  <a:srgbClr val="8EA3C0"/>
                </a:solidFill>
                <a:latin typeface="Calibri"/>
              </a:rPr>
              <a:t>Item</a:t>
            </a:r>
          </a:p>
        </p:txBody>
      </p:sp>
      <p:sp>
        <p:nvSpPr>
          <p:cNvPr id="8" name="TextBox 7"/>
          <p:cNvSpPr txBox="1"/>
          <p:nvPr/>
        </p:nvSpPr>
        <p:spPr>
          <a:xfrm>
            <a:off x="2514600" y="1627632"/>
            <a:ext cx="2377440" cy="365760"/>
          </a:xfrm>
          <a:prstGeom prst="rect">
            <a:avLst/>
          </a:prstGeom>
          <a:noFill/>
        </p:spPr>
        <p:txBody>
          <a:bodyPr wrap="square" anchor="t">
            <a:spAutoFit/>
          </a:bodyPr>
          <a:lstStyle/>
          <a:p>
            <a:pPr algn="l">
              <a:lnSpc>
                <a:spcPct val="100000"/>
              </a:lnSpc>
              <a:spcAft>
                <a:spcPts val="200"/>
              </a:spcAft>
            </a:pPr>
            <a:r>
              <a:rPr sz="1200" b="1">
                <a:solidFill>
                  <a:srgbClr val="8EA3C0"/>
                </a:solidFill>
                <a:latin typeface="Calibri"/>
              </a:rPr>
              <a:t>Choice</a:t>
            </a:r>
          </a:p>
        </p:txBody>
      </p:sp>
      <p:sp>
        <p:nvSpPr>
          <p:cNvPr id="9" name="TextBox 8"/>
          <p:cNvSpPr txBox="1"/>
          <p:nvPr/>
        </p:nvSpPr>
        <p:spPr>
          <a:xfrm>
            <a:off x="4937760" y="1627632"/>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Why it is not a risk</a:t>
            </a:r>
          </a:p>
        </p:txBody>
      </p:sp>
      <p:sp>
        <p:nvSpPr>
          <p:cNvPr id="10" name="Rectangle 9"/>
          <p:cNvSpPr/>
          <p:nvPr/>
        </p:nvSpPr>
        <p:spPr>
          <a:xfrm>
            <a:off x="777240" y="2048256"/>
            <a:ext cx="6949440" cy="457200"/>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121408"/>
            <a:ext cx="155448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Airframe</a:t>
            </a:r>
          </a:p>
        </p:txBody>
      </p:sp>
      <p:sp>
        <p:nvSpPr>
          <p:cNvPr id="12" name="TextBox 11"/>
          <p:cNvSpPr txBox="1"/>
          <p:nvPr/>
        </p:nvSpPr>
        <p:spPr>
          <a:xfrm>
            <a:off x="2514600" y="2121408"/>
            <a:ext cx="2377440" cy="365760"/>
          </a:xfrm>
          <a:prstGeom prst="rect">
            <a:avLst/>
          </a:prstGeom>
          <a:noFill/>
        </p:spPr>
        <p:txBody>
          <a:bodyPr wrap="square" anchor="t">
            <a:spAutoFit/>
          </a:bodyPr>
          <a:lstStyle/>
          <a:p>
            <a:pPr algn="l">
              <a:lnSpc>
                <a:spcPct val="100000"/>
              </a:lnSpc>
              <a:spcAft>
                <a:spcPts val="200"/>
              </a:spcAft>
            </a:pPr>
            <a:r>
              <a:rPr sz="1200" b="0">
                <a:solidFill>
                  <a:srgbClr val="38BDF8"/>
                </a:solidFill>
                <a:latin typeface="Calibri"/>
              </a:rPr>
              <a:t>carbon quad, 6S 8 Ah</a:t>
            </a:r>
          </a:p>
        </p:txBody>
      </p:sp>
      <p:sp>
        <p:nvSpPr>
          <p:cNvPr id="13" name="TextBox 12"/>
          <p:cNvSpPr txBox="1"/>
          <p:nvPr/>
        </p:nvSpPr>
        <p:spPr>
          <a:xfrm>
            <a:off x="4937760" y="2121408"/>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hover throttle &lt; 55% at survey weight</a:t>
            </a:r>
          </a:p>
        </p:txBody>
      </p:sp>
      <p:sp>
        <p:nvSpPr>
          <p:cNvPr id="14" name="Rectangle 13"/>
          <p:cNvSpPr/>
          <p:nvPr/>
        </p:nvSpPr>
        <p:spPr>
          <a:xfrm>
            <a:off x="777240" y="2542032"/>
            <a:ext cx="6949440" cy="457200"/>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15184"/>
            <a:ext cx="155448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Autopilot</a:t>
            </a:r>
          </a:p>
        </p:txBody>
      </p:sp>
      <p:sp>
        <p:nvSpPr>
          <p:cNvPr id="16" name="TextBox 15"/>
          <p:cNvSpPr txBox="1"/>
          <p:nvPr/>
        </p:nvSpPr>
        <p:spPr>
          <a:xfrm>
            <a:off x="2514600" y="2615184"/>
            <a:ext cx="2377440" cy="365760"/>
          </a:xfrm>
          <a:prstGeom prst="rect">
            <a:avLst/>
          </a:prstGeom>
          <a:noFill/>
        </p:spPr>
        <p:txBody>
          <a:bodyPr wrap="square" anchor="t">
            <a:spAutoFit/>
          </a:bodyPr>
          <a:lstStyle/>
          <a:p>
            <a:pPr algn="l">
              <a:lnSpc>
                <a:spcPct val="100000"/>
              </a:lnSpc>
              <a:spcAft>
                <a:spcPts val="200"/>
              </a:spcAft>
            </a:pPr>
            <a:r>
              <a:rPr sz="1200" b="0">
                <a:solidFill>
                  <a:srgbClr val="38BDF8"/>
                </a:solidFill>
                <a:latin typeface="Calibri"/>
              </a:rPr>
              <a:t>ArduPilot on TBS Lucid H743</a:t>
            </a:r>
          </a:p>
        </p:txBody>
      </p:sp>
      <p:sp>
        <p:nvSpPr>
          <p:cNvPr id="17" name="TextBox 16"/>
          <p:cNvSpPr txBox="1"/>
          <p:nvPr/>
        </p:nvSpPr>
        <p:spPr>
          <a:xfrm>
            <a:off x="4937760" y="2615184"/>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SITL-proven here before any prop spins</a:t>
            </a:r>
          </a:p>
        </p:txBody>
      </p:sp>
      <p:sp>
        <p:nvSpPr>
          <p:cNvPr id="18" name="Rectangle 17"/>
          <p:cNvSpPr/>
          <p:nvPr/>
        </p:nvSpPr>
        <p:spPr>
          <a:xfrm>
            <a:off x="777240" y="3035808"/>
            <a:ext cx="6949440" cy="457200"/>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108960"/>
            <a:ext cx="155448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Thermal</a:t>
            </a:r>
          </a:p>
        </p:txBody>
      </p:sp>
      <p:sp>
        <p:nvSpPr>
          <p:cNvPr id="20" name="TextBox 19"/>
          <p:cNvSpPr txBox="1"/>
          <p:nvPr/>
        </p:nvSpPr>
        <p:spPr>
          <a:xfrm>
            <a:off x="2514600" y="3108960"/>
            <a:ext cx="2377440" cy="365760"/>
          </a:xfrm>
          <a:prstGeom prst="rect">
            <a:avLst/>
          </a:prstGeom>
          <a:noFill/>
        </p:spPr>
        <p:txBody>
          <a:bodyPr wrap="square" anchor="t">
            <a:spAutoFit/>
          </a:bodyPr>
          <a:lstStyle/>
          <a:p>
            <a:pPr algn="l">
              <a:lnSpc>
                <a:spcPct val="100000"/>
              </a:lnSpc>
              <a:spcAft>
                <a:spcPts val="200"/>
              </a:spcAft>
            </a:pPr>
            <a:r>
              <a:rPr sz="1200" b="0">
                <a:solidFill>
                  <a:srgbClr val="38BDF8"/>
                </a:solidFill>
                <a:latin typeface="Calibri"/>
              </a:rPr>
              <a:t>FLIR Lepton 3.5 radiometric</a:t>
            </a:r>
          </a:p>
        </p:txBody>
      </p:sp>
      <p:sp>
        <p:nvSpPr>
          <p:cNvPr id="21" name="TextBox 20"/>
          <p:cNvSpPr txBox="1"/>
          <p:nvPr/>
        </p:nvSpPr>
        <p:spPr>
          <a:xfrm>
            <a:off x="4937760" y="3108960"/>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refuse to fly on AGC video unless waived</a:t>
            </a:r>
          </a:p>
        </p:txBody>
      </p:sp>
      <p:sp>
        <p:nvSpPr>
          <p:cNvPr id="22" name="Rectangle 21"/>
          <p:cNvSpPr/>
          <p:nvPr/>
        </p:nvSpPr>
        <p:spPr>
          <a:xfrm>
            <a:off x="777240" y="3529584"/>
            <a:ext cx="6949440" cy="457200"/>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602736"/>
            <a:ext cx="155448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Compute</a:t>
            </a:r>
          </a:p>
        </p:txBody>
      </p:sp>
      <p:sp>
        <p:nvSpPr>
          <p:cNvPr id="24" name="TextBox 23"/>
          <p:cNvSpPr txBox="1"/>
          <p:nvPr/>
        </p:nvSpPr>
        <p:spPr>
          <a:xfrm>
            <a:off x="2514600" y="3602736"/>
            <a:ext cx="2377440" cy="365760"/>
          </a:xfrm>
          <a:prstGeom prst="rect">
            <a:avLst/>
          </a:prstGeom>
          <a:noFill/>
        </p:spPr>
        <p:txBody>
          <a:bodyPr wrap="square" anchor="t">
            <a:spAutoFit/>
          </a:bodyPr>
          <a:lstStyle/>
          <a:p>
            <a:pPr algn="l">
              <a:lnSpc>
                <a:spcPct val="100000"/>
              </a:lnSpc>
              <a:spcAft>
                <a:spcPts val="200"/>
              </a:spcAft>
            </a:pPr>
            <a:r>
              <a:rPr sz="1200" b="0">
                <a:solidFill>
                  <a:srgbClr val="38BDF8"/>
                </a:solidFill>
                <a:latin typeface="Calibri"/>
              </a:rPr>
              <a:t>phone now → QCS6490 (RB3 Gen 2)</a:t>
            </a:r>
          </a:p>
        </p:txBody>
      </p:sp>
      <p:sp>
        <p:nvSpPr>
          <p:cNvPr id="25" name="TextBox 24"/>
          <p:cNvSpPr txBox="1"/>
          <p:nvPr/>
        </p:nvSpPr>
        <p:spPr>
          <a:xfrm>
            <a:off x="4937760" y="3602736"/>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same Hexagon architecture, one model family</a:t>
            </a:r>
          </a:p>
        </p:txBody>
      </p:sp>
      <p:sp>
        <p:nvSpPr>
          <p:cNvPr id="26" name="Rectangle 25"/>
          <p:cNvSpPr/>
          <p:nvPr/>
        </p:nvSpPr>
        <p:spPr>
          <a:xfrm>
            <a:off x="777240" y="4023360"/>
            <a:ext cx="6949440" cy="457200"/>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096512"/>
            <a:ext cx="155448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Link</a:t>
            </a:r>
          </a:p>
        </p:txBody>
      </p:sp>
      <p:sp>
        <p:nvSpPr>
          <p:cNvPr id="28" name="TextBox 27"/>
          <p:cNvSpPr txBox="1"/>
          <p:nvPr/>
        </p:nvSpPr>
        <p:spPr>
          <a:xfrm>
            <a:off x="2514600" y="4096512"/>
            <a:ext cx="2377440" cy="365760"/>
          </a:xfrm>
          <a:prstGeom prst="rect">
            <a:avLst/>
          </a:prstGeom>
          <a:noFill/>
        </p:spPr>
        <p:txBody>
          <a:bodyPr wrap="square" anchor="t">
            <a:spAutoFit/>
          </a:bodyPr>
          <a:lstStyle/>
          <a:p>
            <a:pPr algn="l">
              <a:lnSpc>
                <a:spcPct val="100000"/>
              </a:lnSpc>
              <a:spcAft>
                <a:spcPts val="200"/>
              </a:spcAft>
            </a:pPr>
            <a:r>
              <a:rPr sz="1200" b="0">
                <a:solidFill>
                  <a:srgbClr val="38BDF8"/>
                </a:solidFill>
                <a:latin typeface="Calibri"/>
              </a:rPr>
              <a:t>LoRa 900 MHz + ELRS control</a:t>
            </a:r>
          </a:p>
        </p:txBody>
      </p:sp>
      <p:sp>
        <p:nvSpPr>
          <p:cNvPr id="29" name="TextBox 28"/>
          <p:cNvSpPr txBox="1"/>
          <p:nvPr/>
        </p:nvSpPr>
        <p:spPr>
          <a:xfrm>
            <a:off x="4937760" y="4096512"/>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alert path independent of both</a:t>
            </a:r>
          </a:p>
        </p:txBody>
      </p:sp>
      <p:sp>
        <p:nvSpPr>
          <p:cNvPr id="30" name="Rectangle 29"/>
          <p:cNvSpPr/>
          <p:nvPr/>
        </p:nvSpPr>
        <p:spPr>
          <a:xfrm>
            <a:off x="777240" y="4517136"/>
            <a:ext cx="6949440" cy="457200"/>
          </a:xfrm>
          <a:prstGeom prst="rect">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590288"/>
            <a:ext cx="1554480" cy="365760"/>
          </a:xfrm>
          <a:prstGeom prst="rect">
            <a:avLst/>
          </a:prstGeom>
          <a:noFill/>
        </p:spPr>
        <p:txBody>
          <a:bodyPr wrap="square" anchor="t">
            <a:spAutoFit/>
          </a:bodyPr>
          <a:lstStyle/>
          <a:p>
            <a:pPr algn="l">
              <a:lnSpc>
                <a:spcPct val="100000"/>
              </a:lnSpc>
              <a:spcAft>
                <a:spcPts val="200"/>
              </a:spcAft>
            </a:pPr>
            <a:r>
              <a:rPr sz="1200" b="0">
                <a:solidFill>
                  <a:srgbClr val="E5EDF8"/>
                </a:solidFill>
                <a:latin typeface="Calibri"/>
              </a:rPr>
              <a:t>AI</a:t>
            </a:r>
          </a:p>
        </p:txBody>
      </p:sp>
      <p:sp>
        <p:nvSpPr>
          <p:cNvPr id="32" name="TextBox 31"/>
          <p:cNvSpPr txBox="1"/>
          <p:nvPr/>
        </p:nvSpPr>
        <p:spPr>
          <a:xfrm>
            <a:off x="2514600" y="4590288"/>
            <a:ext cx="2377440" cy="365760"/>
          </a:xfrm>
          <a:prstGeom prst="rect">
            <a:avLst/>
          </a:prstGeom>
          <a:noFill/>
        </p:spPr>
        <p:txBody>
          <a:bodyPr wrap="square" anchor="t">
            <a:spAutoFit/>
          </a:bodyPr>
          <a:lstStyle/>
          <a:p>
            <a:pPr algn="l">
              <a:lnSpc>
                <a:spcPct val="100000"/>
              </a:lnSpc>
              <a:spcAft>
                <a:spcPts val="200"/>
              </a:spcAft>
            </a:pPr>
            <a:r>
              <a:rPr sz="1200" b="0">
                <a:solidFill>
                  <a:srgbClr val="38BDF8"/>
                </a:solidFill>
                <a:latin typeface="Calibri"/>
              </a:rPr>
              <a:t>YOLO11n-P2 INT8</a:t>
            </a:r>
          </a:p>
        </p:txBody>
      </p:sp>
      <p:sp>
        <p:nvSpPr>
          <p:cNvPr id="33" name="TextBox 32"/>
          <p:cNvSpPr txBox="1"/>
          <p:nvPr/>
        </p:nvSpPr>
        <p:spPr>
          <a:xfrm>
            <a:off x="4937760" y="4590288"/>
            <a:ext cx="2743200" cy="36576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1.5 ms on a T4; 25 ms budget on the NPU</a:t>
            </a:r>
          </a:p>
        </p:txBody>
      </p:sp>
      <p:sp>
        <p:nvSpPr>
          <p:cNvPr id="34" name="Rounded Rectangle 33"/>
          <p:cNvSpPr/>
          <p:nvPr/>
        </p:nvSpPr>
        <p:spPr>
          <a:xfrm>
            <a:off x="7955279" y="1554480"/>
            <a:ext cx="3520440" cy="292608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83879" y="1737360"/>
            <a:ext cx="3108960" cy="365760"/>
          </a:xfrm>
          <a:prstGeom prst="rect">
            <a:avLst/>
          </a:prstGeom>
          <a:noFill/>
        </p:spPr>
        <p:txBody>
          <a:bodyPr wrap="square" anchor="t">
            <a:spAutoFit/>
          </a:bodyPr>
          <a:lstStyle/>
          <a:p>
            <a:pPr algn="l">
              <a:lnSpc>
                <a:spcPct val="100000"/>
              </a:lnSpc>
              <a:spcAft>
                <a:spcPts val="200"/>
              </a:spcAft>
            </a:pPr>
            <a:r>
              <a:rPr sz="1100" b="1">
                <a:solidFill>
                  <a:srgbClr val="F59E0B"/>
                </a:solidFill>
                <a:latin typeface="Calibri"/>
              </a:rPr>
              <a:t>THE ONBOARD BUDGET</a:t>
            </a:r>
          </a:p>
        </p:txBody>
      </p:sp>
      <p:sp>
        <p:nvSpPr>
          <p:cNvPr id="36" name="TextBox 35"/>
          <p:cNvSpPr txBox="1"/>
          <p:nvPr/>
        </p:nvSpPr>
        <p:spPr>
          <a:xfrm>
            <a:off x="8183879" y="2148840"/>
            <a:ext cx="3108960" cy="320040"/>
          </a:xfrm>
          <a:prstGeom prst="rect">
            <a:avLst/>
          </a:prstGeom>
          <a:noFill/>
        </p:spPr>
        <p:txBody>
          <a:bodyPr wrap="square" anchor="t">
            <a:spAutoFit/>
          </a:bodyPr>
          <a:lstStyle/>
          <a:p>
            <a:pPr algn="l">
              <a:lnSpc>
                <a:spcPct val="100000"/>
              </a:lnSpc>
              <a:spcAft>
                <a:spcPts val="200"/>
              </a:spcAft>
            </a:pPr>
            <a:r>
              <a:rPr sz="1700" b="1">
                <a:solidFill>
                  <a:srgbClr val="F59E0B"/>
                </a:solidFill>
                <a:latin typeface="Calibri"/>
              </a:rPr>
              <a:t>165 ms</a:t>
            </a:r>
            <a:r>
              <a:rPr sz="1100" b="0">
                <a:solidFill>
                  <a:srgbClr val="8EA3C0"/>
                </a:solidFill>
                <a:latin typeface="Calibri"/>
              </a:rPr>
              <a:t>   perception cycle vs 500 ms available</a:t>
            </a:r>
          </a:p>
        </p:txBody>
      </p:sp>
      <p:sp>
        <p:nvSpPr>
          <p:cNvPr id="37" name="TextBox 36"/>
          <p:cNvSpPr txBox="1"/>
          <p:nvPr/>
        </p:nvSpPr>
        <p:spPr>
          <a:xfrm>
            <a:off x="8183879" y="2715768"/>
            <a:ext cx="3108960" cy="320040"/>
          </a:xfrm>
          <a:prstGeom prst="rect">
            <a:avLst/>
          </a:prstGeom>
          <a:noFill/>
        </p:spPr>
        <p:txBody>
          <a:bodyPr wrap="square" anchor="t">
            <a:spAutoFit/>
          </a:bodyPr>
          <a:lstStyle/>
          <a:p>
            <a:pPr algn="l">
              <a:lnSpc>
                <a:spcPct val="100000"/>
              </a:lnSpc>
              <a:spcAft>
                <a:spcPts val="200"/>
              </a:spcAft>
            </a:pPr>
            <a:r>
              <a:rPr sz="1700" b="1">
                <a:solidFill>
                  <a:srgbClr val="F59E0B"/>
                </a:solidFill>
                <a:latin typeface="Calibri"/>
              </a:rPr>
              <a:t>420 W</a:t>
            </a:r>
            <a:r>
              <a:rPr sz="1100" b="0">
                <a:solidFill>
                  <a:srgbClr val="8EA3C0"/>
                </a:solidFill>
                <a:latin typeface="Calibri"/>
              </a:rPr>
              <a:t>   hover power, measured not datasheet</a:t>
            </a:r>
          </a:p>
        </p:txBody>
      </p:sp>
      <p:sp>
        <p:nvSpPr>
          <p:cNvPr id="38" name="TextBox 37"/>
          <p:cNvSpPr txBox="1"/>
          <p:nvPr/>
        </p:nvSpPr>
        <p:spPr>
          <a:xfrm>
            <a:off x="8183879" y="3282696"/>
            <a:ext cx="3108960" cy="320040"/>
          </a:xfrm>
          <a:prstGeom prst="rect">
            <a:avLst/>
          </a:prstGeom>
          <a:noFill/>
        </p:spPr>
        <p:txBody>
          <a:bodyPr wrap="square" anchor="t">
            <a:spAutoFit/>
          </a:bodyPr>
          <a:lstStyle/>
          <a:p>
            <a:pPr algn="l">
              <a:lnSpc>
                <a:spcPct val="100000"/>
              </a:lnSpc>
              <a:spcAft>
                <a:spcPts val="200"/>
              </a:spcAft>
            </a:pPr>
            <a:r>
              <a:rPr sz="1700" b="1">
                <a:solidFill>
                  <a:srgbClr val="F59E0B"/>
                </a:solidFill>
                <a:latin typeface="Calibri"/>
              </a:rPr>
              <a:t>25%</a:t>
            </a:r>
            <a:r>
              <a:rPr sz="1100" b="0">
                <a:solidFill>
                  <a:srgbClr val="8EA3C0"/>
                </a:solidFill>
                <a:latin typeface="Calibri"/>
              </a:rPr>
              <a:t>   battery reserve, hard floor</a:t>
            </a:r>
          </a:p>
        </p:txBody>
      </p:sp>
      <p:sp>
        <p:nvSpPr>
          <p:cNvPr id="39" name="TextBox 38"/>
          <p:cNvSpPr txBox="1"/>
          <p:nvPr/>
        </p:nvSpPr>
        <p:spPr>
          <a:xfrm>
            <a:off x="8183879" y="3849624"/>
            <a:ext cx="3108960" cy="320040"/>
          </a:xfrm>
          <a:prstGeom prst="rect">
            <a:avLst/>
          </a:prstGeom>
          <a:noFill/>
        </p:spPr>
        <p:txBody>
          <a:bodyPr wrap="square" anchor="t">
            <a:spAutoFit/>
          </a:bodyPr>
          <a:lstStyle/>
          <a:p>
            <a:pPr algn="l">
              <a:lnSpc>
                <a:spcPct val="100000"/>
              </a:lnSpc>
              <a:spcAft>
                <a:spcPts val="200"/>
              </a:spcAft>
            </a:pPr>
            <a:r>
              <a:rPr sz="1700" b="1">
                <a:solidFill>
                  <a:srgbClr val="F59E0B"/>
                </a:solidFill>
                <a:latin typeface="Calibri"/>
              </a:rPr>
              <a:t>2 Hz</a:t>
            </a:r>
            <a:r>
              <a:rPr sz="1100" b="0">
                <a:solidFill>
                  <a:srgbClr val="8EA3C0"/>
                </a:solidFill>
                <a:latin typeface="Calibri"/>
              </a:rPr>
              <a:t>   perception rate the planner assumes</a:t>
            </a:r>
          </a:p>
        </p:txBody>
      </p:sp>
      <p:sp>
        <p:nvSpPr>
          <p:cNvPr id="40" name="TextBox 39"/>
          <p:cNvSpPr txBox="1"/>
          <p:nvPr/>
        </p:nvSpPr>
        <p:spPr>
          <a:xfrm>
            <a:off x="777240" y="5029200"/>
            <a:ext cx="10698480" cy="1280160"/>
          </a:xfrm>
          <a:prstGeom prst="rect">
            <a:avLst/>
          </a:prstGeom>
          <a:noFill/>
        </p:spPr>
        <p:txBody>
          <a:bodyPr wrap="square" anchor="t">
            <a:spAutoFit/>
          </a:bodyPr>
          <a:lstStyle/>
          <a:p>
            <a:pPr algn="l">
              <a:lnSpc>
                <a:spcPct val="105000"/>
              </a:lnSpc>
              <a:spcAft>
                <a:spcPts val="400"/>
              </a:spcAft>
            </a:pPr>
            <a:r>
              <a:rPr sz="1300" b="1">
                <a:solidFill>
                  <a:srgbClr val="22C55E"/>
                </a:solidFill>
                <a:latin typeface="Calibri"/>
              </a:rPr>
              <a:t>▸  </a:t>
            </a:r>
            <a:r>
              <a:rPr sz="1300" b="1">
                <a:solidFill>
                  <a:srgbClr val="E5EDF8"/>
                </a:solidFill>
                <a:latin typeface="Calibri"/>
              </a:rPr>
              <a:t>Every layer has a fallback: </a:t>
            </a:r>
            <a:r>
              <a:rPr sz="1300" b="0">
                <a:solidFill>
                  <a:srgbClr val="8EA3C0"/>
                </a:solidFill>
                <a:latin typeface="Calibri"/>
              </a:rPr>
              <a:t>no weights → heuristic ensemble; no NPU → ONNX CPU; no LoRa → store and retry; no GPS → VIO. The aircraft is never without a useful behaviour.</a:t>
            </a:r>
          </a:p>
        </p:txBody>
      </p:sp>
      <p:sp>
        <p:nvSpPr>
          <p:cNvPr id="41" name="TextBox 40"/>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42" name="TextBox 41"/>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F59E0B"/>
                </a:solidFill>
                <a:latin typeface="Calibri"/>
              </a:rPr>
              <a:t>3 · ROADMAP</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Ninety days from bench to field trial</a:t>
            </a:r>
          </a:p>
        </p:txBody>
      </p:sp>
      <p:sp>
        <p:nvSpPr>
          <p:cNvPr id="6" name="Rounded Rectangle 5"/>
          <p:cNvSpPr/>
          <p:nvPr/>
        </p:nvSpPr>
        <p:spPr>
          <a:xfrm>
            <a:off x="777240" y="1600200"/>
            <a:ext cx="3493008" cy="310896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00200"/>
            <a:ext cx="3493008" cy="4572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40"/>
            <a:ext cx="3108960" cy="320040"/>
          </a:xfrm>
          <a:prstGeom prst="rect">
            <a:avLst/>
          </a:prstGeom>
          <a:noFill/>
        </p:spPr>
        <p:txBody>
          <a:bodyPr wrap="square" anchor="t">
            <a:spAutoFit/>
          </a:bodyPr>
          <a:lstStyle/>
          <a:p>
            <a:pPr algn="l">
              <a:lnSpc>
                <a:spcPct val="100000"/>
              </a:lnSpc>
              <a:spcAft>
                <a:spcPts val="200"/>
              </a:spcAft>
            </a:pPr>
            <a:r>
              <a:rPr sz="1300" b="1">
                <a:solidFill>
                  <a:srgbClr val="0B1220"/>
                </a:solidFill>
                <a:latin typeface="Calibri"/>
              </a:rPr>
              <a:t>Days 1–30 · BENCH</a:t>
            </a:r>
          </a:p>
        </p:txBody>
      </p:sp>
      <p:sp>
        <p:nvSpPr>
          <p:cNvPr id="9" name="TextBox 8"/>
          <p:cNvSpPr txBox="1"/>
          <p:nvPr/>
        </p:nvSpPr>
        <p:spPr>
          <a:xfrm>
            <a:off x="960120" y="2240280"/>
            <a:ext cx="3154680" cy="2377440"/>
          </a:xfrm>
          <a:prstGeom prst="rect">
            <a:avLst/>
          </a:prstGeom>
          <a:noFill/>
        </p:spPr>
        <p:txBody>
          <a:bodyPr wrap="square" anchor="t">
            <a:spAutoFit/>
          </a:bodyPr>
          <a:lstStyle/>
          <a:p>
            <a:pPr algn="l">
              <a:lnSpc>
                <a:spcPct val="105000"/>
              </a:lnSpc>
              <a:spcAft>
                <a:spcPts val="400"/>
              </a:spcAft>
            </a:pPr>
            <a:r>
              <a:rPr sz="1200" b="1">
                <a:solidFill>
                  <a:srgbClr val="22C55E"/>
                </a:solidFill>
                <a:latin typeface="Calibri"/>
              </a:rPr>
              <a:t>▸  </a:t>
            </a:r>
            <a:r>
              <a:rPr sz="1200" b="0">
                <a:solidFill>
                  <a:srgbClr val="E5EDF8"/>
                </a:solidFill>
                <a:latin typeface="Calibri"/>
              </a:rPr>
              <a:t>Airframe build + thrust/power measurement</a:t>
            </a:r>
          </a:p>
          <a:p>
            <a:pPr algn="l">
              <a:lnSpc>
                <a:spcPct val="105000"/>
              </a:lnSpc>
              <a:spcAft>
                <a:spcPts val="400"/>
              </a:spcAft>
            </a:pPr>
            <a:r>
              <a:rPr sz="1200" b="1">
                <a:solidFill>
                  <a:srgbClr val="22C55E"/>
                </a:solidFill>
                <a:latin typeface="Calibri"/>
              </a:rPr>
              <a:t>▸  </a:t>
            </a:r>
            <a:r>
              <a:rPr sz="1200" b="0">
                <a:solidFill>
                  <a:srgbClr val="E5EDF8"/>
                </a:solidFill>
                <a:latin typeface="Calibri"/>
              </a:rPr>
              <a:t>HITL: real autopilot, simulated cameras</a:t>
            </a:r>
          </a:p>
          <a:p>
            <a:pPr algn="l">
              <a:lnSpc>
                <a:spcPct val="105000"/>
              </a:lnSpc>
              <a:spcAft>
                <a:spcPts val="400"/>
              </a:spcAft>
            </a:pPr>
            <a:r>
              <a:rPr sz="1200" b="1">
                <a:solidFill>
                  <a:srgbClr val="22C55E"/>
                </a:solidFill>
                <a:latin typeface="Calibri"/>
              </a:rPr>
              <a:t>▸  </a:t>
            </a:r>
            <a:r>
              <a:rPr sz="1200" b="0">
                <a:solidFill>
                  <a:srgbClr val="E5EDF8"/>
                </a:solidFill>
                <a:latin typeface="Calibri"/>
              </a:rPr>
              <a:t>Phone bridge on the airframe, vibration-qualified</a:t>
            </a:r>
          </a:p>
        </p:txBody>
      </p:sp>
      <p:sp>
        <p:nvSpPr>
          <p:cNvPr id="10" name="Rounded Rectangle 9"/>
          <p:cNvSpPr/>
          <p:nvPr/>
        </p:nvSpPr>
        <p:spPr>
          <a:xfrm>
            <a:off x="4453127" y="1600200"/>
            <a:ext cx="3493008" cy="310896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53127" y="1600200"/>
            <a:ext cx="3493008" cy="4572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7" y="1691640"/>
            <a:ext cx="3108960" cy="320040"/>
          </a:xfrm>
          <a:prstGeom prst="rect">
            <a:avLst/>
          </a:prstGeom>
          <a:noFill/>
        </p:spPr>
        <p:txBody>
          <a:bodyPr wrap="square" anchor="t">
            <a:spAutoFit/>
          </a:bodyPr>
          <a:lstStyle/>
          <a:p>
            <a:pPr algn="l">
              <a:lnSpc>
                <a:spcPct val="100000"/>
              </a:lnSpc>
              <a:spcAft>
                <a:spcPts val="200"/>
              </a:spcAft>
            </a:pPr>
            <a:r>
              <a:rPr sz="1300" b="1">
                <a:solidFill>
                  <a:srgbClr val="0B1220"/>
                </a:solidFill>
                <a:latin typeface="Calibri"/>
              </a:rPr>
              <a:t>Days 31–60 · FIELD</a:t>
            </a:r>
          </a:p>
        </p:txBody>
      </p:sp>
      <p:sp>
        <p:nvSpPr>
          <p:cNvPr id="13" name="TextBox 12"/>
          <p:cNvSpPr txBox="1"/>
          <p:nvPr/>
        </p:nvSpPr>
        <p:spPr>
          <a:xfrm>
            <a:off x="4636007" y="2240280"/>
            <a:ext cx="3154680" cy="2377440"/>
          </a:xfrm>
          <a:prstGeom prst="rect">
            <a:avLst/>
          </a:prstGeom>
          <a:noFill/>
        </p:spPr>
        <p:txBody>
          <a:bodyPr wrap="square" anchor="t">
            <a:spAutoFit/>
          </a:bodyPr>
          <a:lstStyle/>
          <a:p>
            <a:pPr algn="l">
              <a:lnSpc>
                <a:spcPct val="105000"/>
              </a:lnSpc>
              <a:spcAft>
                <a:spcPts val="400"/>
              </a:spcAft>
            </a:pPr>
            <a:r>
              <a:rPr sz="1200" b="1">
                <a:solidFill>
                  <a:srgbClr val="38BDF8"/>
                </a:solidFill>
                <a:latin typeface="Calibri"/>
              </a:rPr>
              <a:t>▸  </a:t>
            </a:r>
            <a:r>
              <a:rPr sz="1200" b="0">
                <a:solidFill>
                  <a:srgbClr val="E5EDF8"/>
                </a:solidFill>
                <a:latin typeface="Calibri"/>
              </a:rPr>
              <a:t>Tethered then free flight, geofenced 200 m</a:t>
            </a:r>
          </a:p>
          <a:p>
            <a:pPr algn="l">
              <a:lnSpc>
                <a:spcPct val="105000"/>
              </a:lnSpc>
              <a:spcAft>
                <a:spcPts val="400"/>
              </a:spcAft>
            </a:pPr>
            <a:r>
              <a:rPr sz="1200" b="1">
                <a:solidFill>
                  <a:srgbClr val="38BDF8"/>
                </a:solidFill>
                <a:latin typeface="Calibri"/>
              </a:rPr>
              <a:t>▸  </a:t>
            </a:r>
            <a:r>
              <a:rPr sz="1200" b="0">
                <a:solidFill>
                  <a:srgbClr val="E5EDF8"/>
                </a:solidFill>
                <a:latin typeface="Calibri"/>
              </a:rPr>
              <a:t>Radiometric calibration against blackbody references</a:t>
            </a:r>
          </a:p>
          <a:p>
            <a:pPr algn="l">
              <a:lnSpc>
                <a:spcPct val="105000"/>
              </a:lnSpc>
              <a:spcAft>
                <a:spcPts val="400"/>
              </a:spcAft>
            </a:pPr>
            <a:r>
              <a:rPr sz="1200" b="1">
                <a:solidFill>
                  <a:srgbClr val="38BDF8"/>
                </a:solidFill>
                <a:latin typeface="Calibri"/>
              </a:rPr>
              <a:t>▸  </a:t>
            </a:r>
            <a:r>
              <a:rPr sz="1200" b="0">
                <a:solidFill>
                  <a:srgbClr val="E5EDF8"/>
                </a:solidFill>
                <a:latin typeface="Calibri"/>
              </a:rPr>
              <a:t>Real-data fine-tune replaces sim weights</a:t>
            </a:r>
          </a:p>
        </p:txBody>
      </p:sp>
      <p:sp>
        <p:nvSpPr>
          <p:cNvPr id="14" name="Rounded Rectangle 13"/>
          <p:cNvSpPr/>
          <p:nvPr/>
        </p:nvSpPr>
        <p:spPr>
          <a:xfrm>
            <a:off x="8129015" y="1600200"/>
            <a:ext cx="3493008" cy="310896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5" y="1600200"/>
            <a:ext cx="3493008"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5" y="1691640"/>
            <a:ext cx="3108960" cy="320040"/>
          </a:xfrm>
          <a:prstGeom prst="rect">
            <a:avLst/>
          </a:prstGeom>
          <a:noFill/>
        </p:spPr>
        <p:txBody>
          <a:bodyPr wrap="square" anchor="t">
            <a:spAutoFit/>
          </a:bodyPr>
          <a:lstStyle/>
          <a:p>
            <a:pPr algn="l">
              <a:lnSpc>
                <a:spcPct val="100000"/>
              </a:lnSpc>
              <a:spcAft>
                <a:spcPts val="200"/>
              </a:spcAft>
            </a:pPr>
            <a:r>
              <a:rPr sz="1300" b="1">
                <a:solidFill>
                  <a:srgbClr val="0B1220"/>
                </a:solidFill>
                <a:latin typeface="Calibri"/>
              </a:rPr>
              <a:t>Days 61–90 · TRIAL</a:t>
            </a:r>
          </a:p>
        </p:txBody>
      </p:sp>
      <p:sp>
        <p:nvSpPr>
          <p:cNvPr id="17" name="TextBox 16"/>
          <p:cNvSpPr txBox="1"/>
          <p:nvPr/>
        </p:nvSpPr>
        <p:spPr>
          <a:xfrm>
            <a:off x="8311895" y="2240280"/>
            <a:ext cx="3154680" cy="2377440"/>
          </a:xfrm>
          <a:prstGeom prst="rect">
            <a:avLst/>
          </a:prstGeom>
          <a:noFill/>
        </p:spPr>
        <p:txBody>
          <a:bodyPr wrap="square" anchor="t">
            <a:spAutoFit/>
          </a:bodyPr>
          <a:lstStyle/>
          <a:p>
            <a:pPr algn="l">
              <a:lnSpc>
                <a:spcPct val="105000"/>
              </a:lnSpc>
              <a:spcAft>
                <a:spcPts val="400"/>
              </a:spcAft>
            </a:pPr>
            <a:r>
              <a:rPr sz="1200" b="1">
                <a:solidFill>
                  <a:srgbClr val="F59E0B"/>
                </a:solidFill>
                <a:latin typeface="Calibri"/>
              </a:rPr>
              <a:t>▸  </a:t>
            </a:r>
            <a:r>
              <a:rPr sz="1200" b="0">
                <a:solidFill>
                  <a:srgbClr val="E5EDF8"/>
                </a:solidFill>
                <a:latin typeface="Calibri"/>
              </a:rPr>
              <a:t>Flood-season trial with a district response team</a:t>
            </a:r>
          </a:p>
          <a:p>
            <a:pPr algn="l">
              <a:lnSpc>
                <a:spcPct val="105000"/>
              </a:lnSpc>
              <a:spcAft>
                <a:spcPts val="400"/>
              </a:spcAft>
            </a:pPr>
            <a:r>
              <a:rPr sz="1200" b="1">
                <a:solidFill>
                  <a:srgbClr val="F59E0B"/>
                </a:solidFill>
                <a:latin typeface="Calibri"/>
              </a:rPr>
              <a:t>▸  </a:t>
            </a:r>
            <a:r>
              <a:rPr sz="1200" b="0">
                <a:solidFill>
                  <a:srgbClr val="E5EDF8"/>
                </a:solidFill>
                <a:latin typeface="Calibri"/>
              </a:rPr>
              <a:t>NDMA / SDRF exercise slot</a:t>
            </a:r>
          </a:p>
          <a:p>
            <a:pPr algn="l">
              <a:lnSpc>
                <a:spcPct val="105000"/>
              </a:lnSpc>
              <a:spcAft>
                <a:spcPts val="400"/>
              </a:spcAft>
            </a:pPr>
            <a:r>
              <a:rPr sz="1200" b="1">
                <a:solidFill>
                  <a:srgbClr val="F59E0B"/>
                </a:solidFill>
                <a:latin typeface="Calibri"/>
              </a:rPr>
              <a:t>▸  </a:t>
            </a:r>
            <a:r>
              <a:rPr sz="1200" b="0">
                <a:solidFill>
                  <a:srgbClr val="E5EDF8"/>
                </a:solidFill>
                <a:latin typeface="Calibri"/>
              </a:rPr>
              <a:t>Open dataset + model release for the next team</a:t>
            </a:r>
          </a:p>
        </p:txBody>
      </p:sp>
      <p:sp>
        <p:nvSpPr>
          <p:cNvPr id="18" name="TextBox 17"/>
          <p:cNvSpPr txBox="1"/>
          <p:nvPr/>
        </p:nvSpPr>
        <p:spPr>
          <a:xfrm>
            <a:off x="777240" y="5029200"/>
            <a:ext cx="10698480" cy="1280160"/>
          </a:xfrm>
          <a:prstGeom prst="rect">
            <a:avLst/>
          </a:prstGeom>
          <a:noFill/>
        </p:spPr>
        <p:txBody>
          <a:bodyPr wrap="square" anchor="t">
            <a:spAutoFit/>
          </a:bodyPr>
          <a:lstStyle/>
          <a:p>
            <a:pPr algn="l">
              <a:lnSpc>
                <a:spcPct val="105000"/>
              </a:lnSpc>
              <a:spcAft>
                <a:spcPts val="400"/>
              </a:spcAft>
            </a:pPr>
            <a:r>
              <a:rPr sz="1300" b="1">
                <a:solidFill>
                  <a:srgbClr val="DC2626"/>
                </a:solidFill>
                <a:latin typeface="Calibri"/>
              </a:rPr>
              <a:t>▸  </a:t>
            </a:r>
            <a:r>
              <a:rPr sz="1300" b="1">
                <a:solidFill>
                  <a:srgbClr val="E5EDF8"/>
                </a:solidFill>
                <a:latin typeface="Calibri"/>
              </a:rPr>
              <a:t>Risks, named: </a:t>
            </a:r>
            <a:r>
              <a:rPr sz="1300" b="0">
                <a:solidFill>
                  <a:srgbClr val="8EA3C0"/>
                </a:solidFill>
                <a:latin typeface="Calibri"/>
              </a:rPr>
              <a:t>LWIR supply lead time (mitigation: Boson 320 second source) · monsoon window (mitigation: dry-run season in Bihar) · quantisation loss (mitigation: w8a16 fallback behind the same gate).</a:t>
            </a:r>
          </a:p>
        </p:txBody>
      </p:sp>
      <p:sp>
        <p:nvSpPr>
          <p:cNvPr id="19" name="TextBox 18"/>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20" name="TextBox 19"/>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22C55E"/>
                </a:solidFill>
                <a:latin typeface="Calibri"/>
              </a:rPr>
              <a:t>4 · IMPACT &amp; SCALABILITY</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One airframe, every disaster India has</a:t>
            </a:r>
          </a:p>
        </p:txBody>
      </p:sp>
      <p:sp>
        <p:nvSpPr>
          <p:cNvPr id="6" name="TextBox 5"/>
          <p:cNvSpPr txBox="1"/>
          <p:nvPr/>
        </p:nvSpPr>
        <p:spPr>
          <a:xfrm>
            <a:off x="777240" y="1554480"/>
            <a:ext cx="5486400" cy="3108960"/>
          </a:xfrm>
          <a:prstGeom prst="rect">
            <a:avLst/>
          </a:prstGeom>
          <a:noFill/>
        </p:spPr>
        <p:txBody>
          <a:bodyPr wrap="square" anchor="t">
            <a:spAutoFit/>
          </a:bodyPr>
          <a:lstStyle/>
          <a:p>
            <a:pPr algn="l">
              <a:lnSpc>
                <a:spcPct val="105000"/>
              </a:lnSpc>
              <a:spcAft>
                <a:spcPts val="400"/>
              </a:spcAft>
            </a:pPr>
            <a:r>
              <a:rPr sz="1350" b="1">
                <a:solidFill>
                  <a:srgbClr val="22C55E"/>
                </a:solidFill>
                <a:latin typeface="Calibri"/>
              </a:rPr>
              <a:t>▸  </a:t>
            </a:r>
            <a:r>
              <a:rPr sz="1350" b="1">
                <a:solidFill>
                  <a:srgbClr val="E5EDF8"/>
                </a:solidFill>
                <a:latin typeface="Calibri"/>
              </a:rPr>
              <a:t>Floods first, because floods are India's disaster. </a:t>
            </a:r>
            <a:r>
              <a:rPr sz="1350" b="0">
                <a:solidFill>
                  <a:srgbClr val="8EA3C0"/>
                </a:solidFill>
                <a:latin typeface="Calibri"/>
              </a:rPr>
              <a:t>But the same stack searches wildfire edges at night, landslide debris at dawn, and coastal water by day — modality weights swap, mission code does not.</a:t>
            </a:r>
          </a:p>
          <a:p>
            <a:pPr algn="l">
              <a:lnSpc>
                <a:spcPct val="105000"/>
              </a:lnSpc>
              <a:spcAft>
                <a:spcPts val="400"/>
              </a:spcAft>
            </a:pPr>
            <a:r>
              <a:rPr sz="1350" b="1">
                <a:solidFill>
                  <a:srgbClr val="22C55E"/>
                </a:solidFill>
                <a:latin typeface="Calibri"/>
              </a:rPr>
              <a:t>▸  </a:t>
            </a:r>
            <a:r>
              <a:rPr sz="1350" b="1">
                <a:solidFill>
                  <a:srgbClr val="E5EDF8"/>
                </a:solidFill>
                <a:latin typeface="Calibri"/>
              </a:rPr>
              <a:t>Cost is the scalability story. </a:t>
            </a:r>
            <a:r>
              <a:rPr sz="1350" b="0">
                <a:solidFill>
                  <a:srgbClr val="8EA3C0"/>
                </a:solidFill>
                <a:latin typeface="Calibri"/>
              </a:rPr>
              <a:t>A thermal payload most districts cannot afford becomes a phone they already own plus a ₹40k airframe. Every district control room can have one.</a:t>
            </a:r>
          </a:p>
          <a:p>
            <a:pPr algn="l">
              <a:lnSpc>
                <a:spcPct val="105000"/>
              </a:lnSpc>
              <a:spcAft>
                <a:spcPts val="400"/>
              </a:spcAft>
            </a:pPr>
            <a:r>
              <a:rPr sz="1350" b="1">
                <a:solidFill>
                  <a:srgbClr val="22C55E"/>
                </a:solidFill>
                <a:latin typeface="Calibri"/>
              </a:rPr>
              <a:t>▸  </a:t>
            </a:r>
            <a:r>
              <a:rPr sz="1350" b="1">
                <a:solidFill>
                  <a:srgbClr val="E5EDF8"/>
                </a:solidFill>
                <a:latin typeface="Calibri"/>
              </a:rPr>
              <a:t>Sovereign and sponsorable. </a:t>
            </a:r>
            <a:r>
              <a:rPr sz="1350" b="0">
                <a:solidFill>
                  <a:srgbClr val="8EA3C0"/>
                </a:solidFill>
                <a:latin typeface="Calibri"/>
              </a:rPr>
              <a:t>Qualcomm silicon end to end — the phone today, QCS6490 tomorrow — which is exactly the ecosystem this problem statement was written to grow.</a:t>
            </a:r>
          </a:p>
          <a:p>
            <a:pPr algn="l">
              <a:lnSpc>
                <a:spcPct val="105000"/>
              </a:lnSpc>
              <a:spcAft>
                <a:spcPts val="400"/>
              </a:spcAft>
            </a:pPr>
            <a:r>
              <a:rPr sz="1350" b="1">
                <a:solidFill>
                  <a:srgbClr val="22C55E"/>
                </a:solidFill>
                <a:latin typeface="Calibri"/>
              </a:rPr>
              <a:t>▸  </a:t>
            </a:r>
            <a:r>
              <a:rPr sz="1350" b="1">
                <a:solidFill>
                  <a:srgbClr val="E5EDF8"/>
                </a:solidFill>
                <a:latin typeface="Calibri"/>
              </a:rPr>
              <a:t>Open by design. </a:t>
            </a:r>
            <a:r>
              <a:rPr sz="1350" b="0">
                <a:solidFill>
                  <a:srgbClr val="8EA3C0"/>
                </a:solidFill>
                <a:latin typeface="Calibri"/>
              </a:rPr>
              <a:t>Datasets, renderer, renderer-derived training sets and model recipes released, so results are auditable and improvable.</a:t>
            </a:r>
          </a:p>
        </p:txBody>
      </p:sp>
      <p:sp>
        <p:nvSpPr>
          <p:cNvPr id="7" name="Rounded Rectangle 6"/>
          <p:cNvSpPr/>
          <p:nvPr/>
        </p:nvSpPr>
        <p:spPr>
          <a:xfrm>
            <a:off x="6583680" y="1554480"/>
            <a:ext cx="4846320" cy="420624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737360"/>
            <a:ext cx="4389120" cy="365760"/>
          </a:xfrm>
          <a:prstGeom prst="rect">
            <a:avLst/>
          </a:prstGeom>
          <a:noFill/>
        </p:spPr>
        <p:txBody>
          <a:bodyPr wrap="square" anchor="t">
            <a:spAutoFit/>
          </a:bodyPr>
          <a:lstStyle/>
          <a:p>
            <a:pPr algn="l">
              <a:lnSpc>
                <a:spcPct val="100000"/>
              </a:lnSpc>
              <a:spcAft>
                <a:spcPts val="200"/>
              </a:spcAft>
            </a:pPr>
            <a:r>
              <a:rPr sz="1100" b="1">
                <a:solidFill>
                  <a:srgbClr val="22C55E"/>
                </a:solidFill>
                <a:latin typeface="Calibri"/>
              </a:rPr>
              <a:t>WHAT ONE SORTIE RETURNS</a:t>
            </a:r>
          </a:p>
        </p:txBody>
      </p:sp>
      <p:sp>
        <p:nvSpPr>
          <p:cNvPr id="9" name="TextBox 8"/>
          <p:cNvSpPr txBox="1"/>
          <p:nvPr/>
        </p:nvSpPr>
        <p:spPr>
          <a:xfrm>
            <a:off x="6812280" y="2194560"/>
            <a:ext cx="4389120" cy="365760"/>
          </a:xfrm>
          <a:prstGeom prst="rect">
            <a:avLst/>
          </a:prstGeom>
          <a:noFill/>
        </p:spPr>
        <p:txBody>
          <a:bodyPr wrap="square" anchor="t">
            <a:spAutoFit/>
          </a:bodyPr>
          <a:lstStyle/>
          <a:p>
            <a:pPr algn="l">
              <a:lnSpc>
                <a:spcPct val="100000"/>
              </a:lnSpc>
              <a:spcAft>
                <a:spcPts val="200"/>
              </a:spcAft>
            </a:pPr>
            <a:r>
              <a:rPr sz="2200" b="1">
                <a:solidFill>
                  <a:srgbClr val="22C55E"/>
                </a:solidFill>
                <a:latin typeface="Calibri"/>
              </a:rPr>
              <a:t>9 ha</a:t>
            </a:r>
          </a:p>
        </p:txBody>
      </p:sp>
      <p:sp>
        <p:nvSpPr>
          <p:cNvPr id="10" name="TextBox 9"/>
          <p:cNvSpPr txBox="1"/>
          <p:nvPr/>
        </p:nvSpPr>
        <p:spPr>
          <a:xfrm>
            <a:off x="6812280" y="2578608"/>
            <a:ext cx="4389120"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searched per 10-minute pass at 45 m AGL</a:t>
            </a:r>
          </a:p>
        </p:txBody>
      </p:sp>
      <p:sp>
        <p:nvSpPr>
          <p:cNvPr id="11" name="TextBox 10"/>
          <p:cNvSpPr txBox="1"/>
          <p:nvPr/>
        </p:nvSpPr>
        <p:spPr>
          <a:xfrm>
            <a:off x="6812280" y="3063239"/>
            <a:ext cx="4389120" cy="365760"/>
          </a:xfrm>
          <a:prstGeom prst="rect">
            <a:avLst/>
          </a:prstGeom>
          <a:noFill/>
        </p:spPr>
        <p:txBody>
          <a:bodyPr wrap="square" anchor="t">
            <a:spAutoFit/>
          </a:bodyPr>
          <a:lstStyle/>
          <a:p>
            <a:pPr algn="l">
              <a:lnSpc>
                <a:spcPct val="100000"/>
              </a:lnSpc>
              <a:spcAft>
                <a:spcPts val="200"/>
              </a:spcAft>
            </a:pPr>
            <a:r>
              <a:rPr sz="2200" b="1">
                <a:solidFill>
                  <a:srgbClr val="22C55E"/>
                </a:solidFill>
                <a:latin typeface="Calibri"/>
              </a:rPr>
              <a:t>200 B</a:t>
            </a:r>
          </a:p>
        </p:txBody>
      </p:sp>
      <p:sp>
        <p:nvSpPr>
          <p:cNvPr id="12" name="TextBox 11"/>
          <p:cNvSpPr txBox="1"/>
          <p:nvPr/>
        </p:nvSpPr>
        <p:spPr>
          <a:xfrm>
            <a:off x="6812280" y="3447287"/>
            <a:ext cx="4389120"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per survivor report — fits one LoRa burst</a:t>
            </a:r>
          </a:p>
        </p:txBody>
      </p:sp>
      <p:sp>
        <p:nvSpPr>
          <p:cNvPr id="13" name="TextBox 12"/>
          <p:cNvSpPr txBox="1"/>
          <p:nvPr/>
        </p:nvSpPr>
        <p:spPr>
          <a:xfrm>
            <a:off x="6812280" y="3931920"/>
            <a:ext cx="4389120" cy="365760"/>
          </a:xfrm>
          <a:prstGeom prst="rect">
            <a:avLst/>
          </a:prstGeom>
          <a:noFill/>
        </p:spPr>
        <p:txBody>
          <a:bodyPr wrap="square" anchor="t">
            <a:spAutoFit/>
          </a:bodyPr>
          <a:lstStyle/>
          <a:p>
            <a:pPr algn="l">
              <a:lnSpc>
                <a:spcPct val="100000"/>
              </a:lnSpc>
              <a:spcAft>
                <a:spcPts val="200"/>
              </a:spcAft>
            </a:pPr>
            <a:r>
              <a:rPr sz="2200" b="1">
                <a:solidFill>
                  <a:srgbClr val="22C55E"/>
                </a:solidFill>
                <a:latin typeface="Calibri"/>
              </a:rPr>
              <a:t>≤ 60 s</a:t>
            </a:r>
          </a:p>
        </p:txBody>
      </p:sp>
      <p:sp>
        <p:nvSpPr>
          <p:cNvPr id="14" name="TextBox 13"/>
          <p:cNvSpPr txBox="1"/>
          <p:nvPr/>
        </p:nvSpPr>
        <p:spPr>
          <a:xfrm>
            <a:off x="6812280" y="4315968"/>
            <a:ext cx="4389120"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from detection to ground-team alert</a:t>
            </a:r>
          </a:p>
        </p:txBody>
      </p:sp>
      <p:sp>
        <p:nvSpPr>
          <p:cNvPr id="15" name="TextBox 14"/>
          <p:cNvSpPr txBox="1"/>
          <p:nvPr/>
        </p:nvSpPr>
        <p:spPr>
          <a:xfrm>
            <a:off x="6812280" y="4800600"/>
            <a:ext cx="4389120" cy="365760"/>
          </a:xfrm>
          <a:prstGeom prst="rect">
            <a:avLst/>
          </a:prstGeom>
          <a:noFill/>
        </p:spPr>
        <p:txBody>
          <a:bodyPr wrap="square" anchor="t">
            <a:spAutoFit/>
          </a:bodyPr>
          <a:lstStyle/>
          <a:p>
            <a:pPr algn="l">
              <a:lnSpc>
                <a:spcPct val="100000"/>
              </a:lnSpc>
              <a:spcAft>
                <a:spcPts val="200"/>
              </a:spcAft>
            </a:pPr>
            <a:r>
              <a:rPr sz="2200" b="1">
                <a:solidFill>
                  <a:srgbClr val="22C55E"/>
                </a:solidFill>
                <a:latin typeface="Calibri"/>
              </a:rPr>
              <a:t>1</a:t>
            </a:r>
          </a:p>
        </p:txBody>
      </p:sp>
      <p:sp>
        <p:nvSpPr>
          <p:cNvPr id="16" name="TextBox 15"/>
          <p:cNvSpPr txBox="1"/>
          <p:nvPr/>
        </p:nvSpPr>
        <p:spPr>
          <a:xfrm>
            <a:off x="6812280" y="5184648"/>
            <a:ext cx="4389120" cy="320040"/>
          </a:xfrm>
          <a:prstGeom prst="rect">
            <a:avLst/>
          </a:prstGeom>
          <a:noFill/>
        </p:spPr>
        <p:txBody>
          <a:bodyPr wrap="square" anchor="t">
            <a:spAutoFit/>
          </a:bodyPr>
          <a:lstStyle/>
          <a:p>
            <a:pPr algn="l">
              <a:lnSpc>
                <a:spcPct val="100000"/>
              </a:lnSpc>
              <a:spcAft>
                <a:spcPts val="200"/>
              </a:spcAft>
            </a:pPr>
            <a:r>
              <a:rPr sz="1100" b="0">
                <a:solidFill>
                  <a:srgbClr val="8EA3C0"/>
                </a:solidFill>
                <a:latin typeface="Calibri"/>
              </a:rPr>
              <a:t>model family: phone DSP → QCS6490 NPU</a:t>
            </a:r>
          </a:p>
        </p:txBody>
      </p:sp>
      <p:sp>
        <p:nvSpPr>
          <p:cNvPr id="17" name="TextBox 16"/>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18" name="TextBox 17"/>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128016" cy="78638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881360" cy="274320"/>
          </a:xfrm>
          <a:prstGeom prst="rect">
            <a:avLst/>
          </a:prstGeom>
          <a:noFill/>
        </p:spPr>
        <p:txBody>
          <a:bodyPr wrap="square" anchor="t">
            <a:spAutoFit/>
          </a:bodyPr>
          <a:lstStyle/>
          <a:p>
            <a:pPr algn="l">
              <a:lnSpc>
                <a:spcPct val="100000"/>
              </a:lnSpc>
              <a:spcAft>
                <a:spcPts val="200"/>
              </a:spcAft>
            </a:pPr>
            <a:r>
              <a:rPr sz="1100" b="1">
                <a:solidFill>
                  <a:srgbClr val="38BDF8"/>
                </a:solidFill>
                <a:latin typeface="Calibri"/>
              </a:rPr>
              <a:t>5 · TEAM</a:t>
            </a:r>
          </a:p>
        </p:txBody>
      </p:sp>
      <p:sp>
        <p:nvSpPr>
          <p:cNvPr id="5" name="TextBox 4"/>
          <p:cNvSpPr txBox="1"/>
          <p:nvPr/>
        </p:nvSpPr>
        <p:spPr>
          <a:xfrm>
            <a:off x="777240" y="566928"/>
            <a:ext cx="10972800" cy="822960"/>
          </a:xfrm>
          <a:prstGeom prst="rect">
            <a:avLst/>
          </a:prstGeom>
          <a:noFill/>
        </p:spPr>
        <p:txBody>
          <a:bodyPr wrap="square" anchor="t">
            <a:spAutoFit/>
          </a:bodyPr>
          <a:lstStyle/>
          <a:p>
            <a:pPr algn="l">
              <a:lnSpc>
                <a:spcPct val="100000"/>
              </a:lnSpc>
              <a:spcAft>
                <a:spcPts val="200"/>
              </a:spcAft>
            </a:pPr>
            <a:r>
              <a:rPr sz="3000" b="1">
                <a:solidFill>
                  <a:srgbClr val="E5EDF8"/>
                </a:solidFill>
                <a:latin typeface="Calibri"/>
              </a:rPr>
              <a:t>Six people, six disciplines, one repository</a:t>
            </a:r>
          </a:p>
        </p:txBody>
      </p:sp>
      <p:sp>
        <p:nvSpPr>
          <p:cNvPr id="6" name="Rounded Rectangle 5"/>
          <p:cNvSpPr/>
          <p:nvPr/>
        </p:nvSpPr>
        <p:spPr>
          <a:xfrm>
            <a:off x="777240" y="1600200"/>
            <a:ext cx="3493008" cy="137160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01368"/>
            <a:ext cx="3017520" cy="457200"/>
          </a:xfrm>
          <a:prstGeom prst="rect">
            <a:avLst/>
          </a:prstGeom>
          <a:noFill/>
        </p:spPr>
        <p:txBody>
          <a:bodyPr wrap="square" anchor="t">
            <a:spAutoFit/>
          </a:bodyPr>
          <a:lstStyle/>
          <a:p>
            <a:pPr algn="l">
              <a:lnSpc>
                <a:spcPct val="100000"/>
              </a:lnSpc>
              <a:spcAft>
                <a:spcPts val="200"/>
              </a:spcAft>
            </a:pPr>
            <a:r>
              <a:rPr sz="1700" b="1">
                <a:solidFill>
                  <a:srgbClr val="E5EDF8"/>
                </a:solidFill>
                <a:latin typeface="Calibri"/>
              </a:rPr>
              <a:t>Member 1</a:t>
            </a:r>
          </a:p>
        </p:txBody>
      </p:sp>
      <p:sp>
        <p:nvSpPr>
          <p:cNvPr id="8" name="TextBox 7"/>
          <p:cNvSpPr txBox="1"/>
          <p:nvPr/>
        </p:nvSpPr>
        <p:spPr>
          <a:xfrm>
            <a:off x="1005840" y="2286000"/>
            <a:ext cx="3017520" cy="457200"/>
          </a:xfrm>
          <a:prstGeom prst="rect">
            <a:avLst/>
          </a:prstGeom>
          <a:noFill/>
        </p:spPr>
        <p:txBody>
          <a:bodyPr wrap="square" anchor="t">
            <a:spAutoFit/>
          </a:bodyPr>
          <a:lstStyle/>
          <a:p>
            <a:pPr algn="l">
              <a:lnSpc>
                <a:spcPct val="100000"/>
              </a:lnSpc>
              <a:spcAft>
                <a:spcPts val="200"/>
              </a:spcAft>
            </a:pPr>
            <a:r>
              <a:rPr sz="1250" b="0">
                <a:solidFill>
                  <a:srgbClr val="38BDF8"/>
                </a:solidFill>
                <a:latin typeface="Calibri"/>
              </a:rPr>
              <a:t>AI &amp; perception</a:t>
            </a:r>
          </a:p>
        </p:txBody>
      </p:sp>
      <p:sp>
        <p:nvSpPr>
          <p:cNvPr id="9" name="TextBox 8"/>
          <p:cNvSpPr txBox="1"/>
          <p:nvPr/>
        </p:nvSpPr>
        <p:spPr>
          <a:xfrm>
            <a:off x="1005840" y="2587752"/>
            <a:ext cx="3017520" cy="320040"/>
          </a:xfrm>
          <a:prstGeom prst="rect">
            <a:avLst/>
          </a:prstGeom>
          <a:noFill/>
        </p:spPr>
        <p:txBody>
          <a:bodyPr wrap="square" anchor="t">
            <a:spAutoFit/>
          </a:bodyPr>
          <a:lstStyle/>
          <a:p>
            <a:pPr algn="l">
              <a:lnSpc>
                <a:spcPct val="100000"/>
              </a:lnSpc>
              <a:spcAft>
                <a:spcPts val="200"/>
              </a:spcAft>
            </a:pPr>
            <a:r>
              <a:rPr sz="1050" b="0">
                <a:solidFill>
                  <a:srgbClr val="8EA3C0"/>
                </a:solidFill>
                <a:latin typeface="Calibri"/>
              </a:rPr>
              <a:t>owns: perception + training</a:t>
            </a:r>
          </a:p>
        </p:txBody>
      </p:sp>
      <p:sp>
        <p:nvSpPr>
          <p:cNvPr id="10" name="Rounded Rectangle 9"/>
          <p:cNvSpPr/>
          <p:nvPr/>
        </p:nvSpPr>
        <p:spPr>
          <a:xfrm>
            <a:off x="4453127" y="1600200"/>
            <a:ext cx="3493008" cy="137160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1727" y="1801368"/>
            <a:ext cx="3017520" cy="457200"/>
          </a:xfrm>
          <a:prstGeom prst="rect">
            <a:avLst/>
          </a:prstGeom>
          <a:noFill/>
        </p:spPr>
        <p:txBody>
          <a:bodyPr wrap="square" anchor="t">
            <a:spAutoFit/>
          </a:bodyPr>
          <a:lstStyle/>
          <a:p>
            <a:pPr algn="l">
              <a:lnSpc>
                <a:spcPct val="100000"/>
              </a:lnSpc>
              <a:spcAft>
                <a:spcPts val="200"/>
              </a:spcAft>
            </a:pPr>
            <a:r>
              <a:rPr sz="1700" b="1">
                <a:solidFill>
                  <a:srgbClr val="E5EDF8"/>
                </a:solidFill>
                <a:latin typeface="Calibri"/>
              </a:rPr>
              <a:t>Member 2</a:t>
            </a:r>
          </a:p>
        </p:txBody>
      </p:sp>
      <p:sp>
        <p:nvSpPr>
          <p:cNvPr id="12" name="TextBox 11"/>
          <p:cNvSpPr txBox="1"/>
          <p:nvPr/>
        </p:nvSpPr>
        <p:spPr>
          <a:xfrm>
            <a:off x="4681727" y="2286000"/>
            <a:ext cx="3017520" cy="457200"/>
          </a:xfrm>
          <a:prstGeom prst="rect">
            <a:avLst/>
          </a:prstGeom>
          <a:noFill/>
        </p:spPr>
        <p:txBody>
          <a:bodyPr wrap="square" anchor="t">
            <a:spAutoFit/>
          </a:bodyPr>
          <a:lstStyle/>
          <a:p>
            <a:pPr algn="l">
              <a:lnSpc>
                <a:spcPct val="100000"/>
              </a:lnSpc>
              <a:spcAft>
                <a:spcPts val="200"/>
              </a:spcAft>
            </a:pPr>
            <a:r>
              <a:rPr sz="1250" b="0">
                <a:solidFill>
                  <a:srgbClr val="38BDF8"/>
                </a:solidFill>
                <a:latin typeface="Calibri"/>
              </a:rPr>
              <a:t>Flight code &amp; MAVLink</a:t>
            </a:r>
          </a:p>
        </p:txBody>
      </p:sp>
      <p:sp>
        <p:nvSpPr>
          <p:cNvPr id="13" name="TextBox 12"/>
          <p:cNvSpPr txBox="1"/>
          <p:nvPr/>
        </p:nvSpPr>
        <p:spPr>
          <a:xfrm>
            <a:off x="4681727" y="2587752"/>
            <a:ext cx="3017520" cy="320040"/>
          </a:xfrm>
          <a:prstGeom prst="rect">
            <a:avLst/>
          </a:prstGeom>
          <a:noFill/>
        </p:spPr>
        <p:txBody>
          <a:bodyPr wrap="square" anchor="t">
            <a:spAutoFit/>
          </a:bodyPr>
          <a:lstStyle/>
          <a:p>
            <a:pPr algn="l">
              <a:lnSpc>
                <a:spcPct val="100000"/>
              </a:lnSpc>
              <a:spcAft>
                <a:spcPts val="200"/>
              </a:spcAft>
            </a:pPr>
            <a:r>
              <a:rPr sz="1050" b="0">
                <a:solidFill>
                  <a:srgbClr val="8EA3C0"/>
                </a:solidFill>
                <a:latin typeface="Calibri"/>
              </a:rPr>
              <a:t>owns: flight + safety supervisor</a:t>
            </a:r>
          </a:p>
        </p:txBody>
      </p:sp>
      <p:sp>
        <p:nvSpPr>
          <p:cNvPr id="14" name="Rounded Rectangle 13"/>
          <p:cNvSpPr/>
          <p:nvPr/>
        </p:nvSpPr>
        <p:spPr>
          <a:xfrm>
            <a:off x="8129015" y="1600200"/>
            <a:ext cx="3493008" cy="137160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5" y="1801368"/>
            <a:ext cx="3017520" cy="457200"/>
          </a:xfrm>
          <a:prstGeom prst="rect">
            <a:avLst/>
          </a:prstGeom>
          <a:noFill/>
        </p:spPr>
        <p:txBody>
          <a:bodyPr wrap="square" anchor="t">
            <a:spAutoFit/>
          </a:bodyPr>
          <a:lstStyle/>
          <a:p>
            <a:pPr algn="l">
              <a:lnSpc>
                <a:spcPct val="100000"/>
              </a:lnSpc>
              <a:spcAft>
                <a:spcPts val="200"/>
              </a:spcAft>
            </a:pPr>
            <a:r>
              <a:rPr sz="1700" b="1">
                <a:solidFill>
                  <a:srgbClr val="E5EDF8"/>
                </a:solidFill>
                <a:latin typeface="Calibri"/>
              </a:rPr>
              <a:t>Member 3</a:t>
            </a:r>
          </a:p>
        </p:txBody>
      </p:sp>
      <p:sp>
        <p:nvSpPr>
          <p:cNvPr id="16" name="TextBox 15"/>
          <p:cNvSpPr txBox="1"/>
          <p:nvPr/>
        </p:nvSpPr>
        <p:spPr>
          <a:xfrm>
            <a:off x="8357615" y="2286000"/>
            <a:ext cx="3017520" cy="457200"/>
          </a:xfrm>
          <a:prstGeom prst="rect">
            <a:avLst/>
          </a:prstGeom>
          <a:noFill/>
        </p:spPr>
        <p:txBody>
          <a:bodyPr wrap="square" anchor="t">
            <a:spAutoFit/>
          </a:bodyPr>
          <a:lstStyle/>
          <a:p>
            <a:pPr algn="l">
              <a:lnSpc>
                <a:spcPct val="100000"/>
              </a:lnSpc>
              <a:spcAft>
                <a:spcPts val="200"/>
              </a:spcAft>
            </a:pPr>
            <a:r>
              <a:rPr sz="1250" b="0">
                <a:solidFill>
                  <a:srgbClr val="38BDF8"/>
                </a:solidFill>
                <a:latin typeface="Calibri"/>
              </a:rPr>
              <a:t>Comms &amp; ground station</a:t>
            </a:r>
          </a:p>
        </p:txBody>
      </p:sp>
      <p:sp>
        <p:nvSpPr>
          <p:cNvPr id="17" name="TextBox 16"/>
          <p:cNvSpPr txBox="1"/>
          <p:nvPr/>
        </p:nvSpPr>
        <p:spPr>
          <a:xfrm>
            <a:off x="8357615" y="2587752"/>
            <a:ext cx="3017520" cy="320040"/>
          </a:xfrm>
          <a:prstGeom prst="rect">
            <a:avLst/>
          </a:prstGeom>
          <a:noFill/>
        </p:spPr>
        <p:txBody>
          <a:bodyPr wrap="square" anchor="t">
            <a:spAutoFit/>
          </a:bodyPr>
          <a:lstStyle/>
          <a:p>
            <a:pPr algn="l">
              <a:lnSpc>
                <a:spcPct val="100000"/>
              </a:lnSpc>
              <a:spcAft>
                <a:spcPts val="200"/>
              </a:spcAft>
            </a:pPr>
            <a:r>
              <a:rPr sz="1050" b="0">
                <a:solidFill>
                  <a:srgbClr val="8EA3C0"/>
                </a:solidFill>
                <a:latin typeface="Calibri"/>
              </a:rPr>
              <a:t>owns: LoRa + GCS</a:t>
            </a:r>
          </a:p>
        </p:txBody>
      </p:sp>
      <p:sp>
        <p:nvSpPr>
          <p:cNvPr id="18" name="Rounded Rectangle 17"/>
          <p:cNvSpPr/>
          <p:nvPr/>
        </p:nvSpPr>
        <p:spPr>
          <a:xfrm>
            <a:off x="777240" y="3200400"/>
            <a:ext cx="3493008" cy="137160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401568"/>
            <a:ext cx="3017520" cy="457200"/>
          </a:xfrm>
          <a:prstGeom prst="rect">
            <a:avLst/>
          </a:prstGeom>
          <a:noFill/>
        </p:spPr>
        <p:txBody>
          <a:bodyPr wrap="square" anchor="t">
            <a:spAutoFit/>
          </a:bodyPr>
          <a:lstStyle/>
          <a:p>
            <a:pPr algn="l">
              <a:lnSpc>
                <a:spcPct val="100000"/>
              </a:lnSpc>
              <a:spcAft>
                <a:spcPts val="200"/>
              </a:spcAft>
            </a:pPr>
            <a:r>
              <a:rPr sz="1700" b="1">
                <a:solidFill>
                  <a:srgbClr val="E5EDF8"/>
                </a:solidFill>
                <a:latin typeface="Calibri"/>
              </a:rPr>
              <a:t>Member 4</a:t>
            </a:r>
          </a:p>
        </p:txBody>
      </p:sp>
      <p:sp>
        <p:nvSpPr>
          <p:cNvPr id="20" name="TextBox 19"/>
          <p:cNvSpPr txBox="1"/>
          <p:nvPr/>
        </p:nvSpPr>
        <p:spPr>
          <a:xfrm>
            <a:off x="1005840" y="3886200"/>
            <a:ext cx="3017520" cy="457200"/>
          </a:xfrm>
          <a:prstGeom prst="rect">
            <a:avLst/>
          </a:prstGeom>
          <a:noFill/>
        </p:spPr>
        <p:txBody>
          <a:bodyPr wrap="square" anchor="t">
            <a:spAutoFit/>
          </a:bodyPr>
          <a:lstStyle/>
          <a:p>
            <a:pPr algn="l">
              <a:lnSpc>
                <a:spcPct val="100000"/>
              </a:lnSpc>
              <a:spcAft>
                <a:spcPts val="200"/>
              </a:spcAft>
            </a:pPr>
            <a:r>
              <a:rPr sz="1250" b="0">
                <a:solidFill>
                  <a:srgbClr val="38BDF8"/>
                </a:solidFill>
                <a:latin typeface="Calibri"/>
              </a:rPr>
              <a:t>Mobile companion app</a:t>
            </a:r>
          </a:p>
        </p:txBody>
      </p:sp>
      <p:sp>
        <p:nvSpPr>
          <p:cNvPr id="21" name="TextBox 20"/>
          <p:cNvSpPr txBox="1"/>
          <p:nvPr/>
        </p:nvSpPr>
        <p:spPr>
          <a:xfrm>
            <a:off x="1005840" y="4187952"/>
            <a:ext cx="3017520" cy="320040"/>
          </a:xfrm>
          <a:prstGeom prst="rect">
            <a:avLst/>
          </a:prstGeom>
          <a:noFill/>
        </p:spPr>
        <p:txBody>
          <a:bodyPr wrap="square" anchor="t">
            <a:spAutoFit/>
          </a:bodyPr>
          <a:lstStyle/>
          <a:p>
            <a:pPr algn="l">
              <a:lnSpc>
                <a:spcPct val="100000"/>
              </a:lnSpc>
              <a:spcAft>
                <a:spcPts val="200"/>
              </a:spcAft>
            </a:pPr>
            <a:r>
              <a:rPr sz="1050" b="0">
                <a:solidFill>
                  <a:srgbClr val="8EA3C0"/>
                </a:solidFill>
                <a:latin typeface="Calibri"/>
              </a:rPr>
              <a:t>owns: Android bridge + VIO</a:t>
            </a:r>
          </a:p>
        </p:txBody>
      </p:sp>
      <p:sp>
        <p:nvSpPr>
          <p:cNvPr id="22" name="Rounded Rectangle 21"/>
          <p:cNvSpPr/>
          <p:nvPr/>
        </p:nvSpPr>
        <p:spPr>
          <a:xfrm>
            <a:off x="4453127" y="3200400"/>
            <a:ext cx="3493008" cy="137160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1727" y="3401568"/>
            <a:ext cx="3017520" cy="457200"/>
          </a:xfrm>
          <a:prstGeom prst="rect">
            <a:avLst/>
          </a:prstGeom>
          <a:noFill/>
        </p:spPr>
        <p:txBody>
          <a:bodyPr wrap="square" anchor="t">
            <a:spAutoFit/>
          </a:bodyPr>
          <a:lstStyle/>
          <a:p>
            <a:pPr algn="l">
              <a:lnSpc>
                <a:spcPct val="100000"/>
              </a:lnSpc>
              <a:spcAft>
                <a:spcPts val="200"/>
              </a:spcAft>
            </a:pPr>
            <a:r>
              <a:rPr sz="1700" b="1">
                <a:solidFill>
                  <a:srgbClr val="E5EDF8"/>
                </a:solidFill>
                <a:latin typeface="Calibri"/>
              </a:rPr>
              <a:t>Member 5</a:t>
            </a:r>
          </a:p>
        </p:txBody>
      </p:sp>
      <p:sp>
        <p:nvSpPr>
          <p:cNvPr id="24" name="TextBox 23"/>
          <p:cNvSpPr txBox="1"/>
          <p:nvPr/>
        </p:nvSpPr>
        <p:spPr>
          <a:xfrm>
            <a:off x="4681727" y="3886200"/>
            <a:ext cx="3017520" cy="457200"/>
          </a:xfrm>
          <a:prstGeom prst="rect">
            <a:avLst/>
          </a:prstGeom>
          <a:noFill/>
        </p:spPr>
        <p:txBody>
          <a:bodyPr wrap="square" anchor="t">
            <a:spAutoFit/>
          </a:bodyPr>
          <a:lstStyle/>
          <a:p>
            <a:pPr algn="l">
              <a:lnSpc>
                <a:spcPct val="100000"/>
              </a:lnSpc>
              <a:spcAft>
                <a:spcPts val="200"/>
              </a:spcAft>
            </a:pPr>
            <a:r>
              <a:rPr sz="1250" b="0">
                <a:solidFill>
                  <a:srgbClr val="38BDF8"/>
                </a:solidFill>
                <a:latin typeface="Calibri"/>
              </a:rPr>
              <a:t>Airframe &amp; power</a:t>
            </a:r>
          </a:p>
        </p:txBody>
      </p:sp>
      <p:sp>
        <p:nvSpPr>
          <p:cNvPr id="25" name="TextBox 24"/>
          <p:cNvSpPr txBox="1"/>
          <p:nvPr/>
        </p:nvSpPr>
        <p:spPr>
          <a:xfrm>
            <a:off x="4681727" y="4187952"/>
            <a:ext cx="3017520" cy="320040"/>
          </a:xfrm>
          <a:prstGeom prst="rect">
            <a:avLst/>
          </a:prstGeom>
          <a:noFill/>
        </p:spPr>
        <p:txBody>
          <a:bodyPr wrap="square" anchor="t">
            <a:spAutoFit/>
          </a:bodyPr>
          <a:lstStyle/>
          <a:p>
            <a:pPr algn="l">
              <a:lnSpc>
                <a:spcPct val="100000"/>
              </a:lnSpc>
              <a:spcAft>
                <a:spcPts val="200"/>
              </a:spcAft>
            </a:pPr>
            <a:r>
              <a:rPr sz="1050" b="0">
                <a:solidFill>
                  <a:srgbClr val="8EA3C0"/>
                </a:solidFill>
                <a:latin typeface="Calibri"/>
              </a:rPr>
              <a:t>owns: airframe + power bench</a:t>
            </a:r>
          </a:p>
        </p:txBody>
      </p:sp>
      <p:sp>
        <p:nvSpPr>
          <p:cNvPr id="26" name="Rounded Rectangle 25"/>
          <p:cNvSpPr/>
          <p:nvPr/>
        </p:nvSpPr>
        <p:spPr>
          <a:xfrm>
            <a:off x="8129015" y="3200400"/>
            <a:ext cx="3493008" cy="137160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57615" y="3401568"/>
            <a:ext cx="3017520" cy="457200"/>
          </a:xfrm>
          <a:prstGeom prst="rect">
            <a:avLst/>
          </a:prstGeom>
          <a:noFill/>
        </p:spPr>
        <p:txBody>
          <a:bodyPr wrap="square" anchor="t">
            <a:spAutoFit/>
          </a:bodyPr>
          <a:lstStyle/>
          <a:p>
            <a:pPr algn="l">
              <a:lnSpc>
                <a:spcPct val="100000"/>
              </a:lnSpc>
              <a:spcAft>
                <a:spcPts val="200"/>
              </a:spcAft>
            </a:pPr>
            <a:r>
              <a:rPr sz="1700" b="1">
                <a:solidFill>
                  <a:srgbClr val="E5EDF8"/>
                </a:solidFill>
                <a:latin typeface="Calibri"/>
              </a:rPr>
              <a:t>Member 6</a:t>
            </a:r>
          </a:p>
        </p:txBody>
      </p:sp>
      <p:sp>
        <p:nvSpPr>
          <p:cNvPr id="28" name="TextBox 27"/>
          <p:cNvSpPr txBox="1"/>
          <p:nvPr/>
        </p:nvSpPr>
        <p:spPr>
          <a:xfrm>
            <a:off x="8357615" y="3886200"/>
            <a:ext cx="3017520" cy="457200"/>
          </a:xfrm>
          <a:prstGeom prst="rect">
            <a:avLst/>
          </a:prstGeom>
          <a:noFill/>
        </p:spPr>
        <p:txBody>
          <a:bodyPr wrap="square" anchor="t">
            <a:spAutoFit/>
          </a:bodyPr>
          <a:lstStyle/>
          <a:p>
            <a:pPr algn="l">
              <a:lnSpc>
                <a:spcPct val="100000"/>
              </a:lnSpc>
              <a:spcAft>
                <a:spcPts val="200"/>
              </a:spcAft>
            </a:pPr>
            <a:r>
              <a:rPr sz="1250" b="0">
                <a:solidFill>
                  <a:srgbClr val="38BDF8"/>
                </a:solidFill>
                <a:latin typeface="Calibri"/>
              </a:rPr>
              <a:t>Data, docs &amp; field ops</a:t>
            </a:r>
          </a:p>
        </p:txBody>
      </p:sp>
      <p:sp>
        <p:nvSpPr>
          <p:cNvPr id="29" name="TextBox 28"/>
          <p:cNvSpPr txBox="1"/>
          <p:nvPr/>
        </p:nvSpPr>
        <p:spPr>
          <a:xfrm>
            <a:off x="8357615" y="4187952"/>
            <a:ext cx="3017520" cy="320040"/>
          </a:xfrm>
          <a:prstGeom prst="rect">
            <a:avLst/>
          </a:prstGeom>
          <a:noFill/>
        </p:spPr>
        <p:txBody>
          <a:bodyPr wrap="square" anchor="t">
            <a:spAutoFit/>
          </a:bodyPr>
          <a:lstStyle/>
          <a:p>
            <a:pPr algn="l">
              <a:lnSpc>
                <a:spcPct val="100000"/>
              </a:lnSpc>
              <a:spcAft>
                <a:spcPts val="200"/>
              </a:spcAft>
            </a:pPr>
            <a:r>
              <a:rPr sz="1050" b="0">
                <a:solidFill>
                  <a:srgbClr val="8EA3C0"/>
                </a:solidFill>
                <a:latin typeface="Calibri"/>
              </a:rPr>
              <a:t>owns: datasets + docs</a:t>
            </a:r>
          </a:p>
        </p:txBody>
      </p:sp>
      <p:sp>
        <p:nvSpPr>
          <p:cNvPr id="30" name="TextBox 29"/>
          <p:cNvSpPr txBox="1"/>
          <p:nvPr/>
        </p:nvSpPr>
        <p:spPr>
          <a:xfrm>
            <a:off x="777240" y="5029200"/>
            <a:ext cx="10698480" cy="1188720"/>
          </a:xfrm>
          <a:prstGeom prst="rect">
            <a:avLst/>
          </a:prstGeom>
          <a:noFill/>
        </p:spPr>
        <p:txBody>
          <a:bodyPr wrap="square" anchor="t">
            <a:spAutoFit/>
          </a:bodyPr>
          <a:lstStyle/>
          <a:p>
            <a:pPr algn="l">
              <a:lnSpc>
                <a:spcPct val="105000"/>
              </a:lnSpc>
              <a:spcAft>
                <a:spcPts val="400"/>
              </a:spcAft>
            </a:pPr>
            <a:r>
              <a:rPr sz="1300" b="1">
                <a:solidFill>
                  <a:srgbClr val="22C55E"/>
                </a:solidFill>
                <a:latin typeface="Calibri"/>
              </a:rPr>
              <a:t>▸  </a:t>
            </a:r>
            <a:r>
              <a:rPr sz="1300" b="1">
                <a:solidFill>
                  <a:srgbClr val="E5EDF8"/>
                </a:solidFill>
                <a:latin typeface="Calibri"/>
              </a:rPr>
              <a:t>How we work: </a:t>
            </a:r>
            <a:r>
              <a:rPr sz="1300" b="0">
                <a:solidFill>
                  <a:srgbClr val="8EA3C0"/>
                </a:solidFill>
                <a:latin typeface="Calibri"/>
              </a:rPr>
              <a:t>one branch per work-package, every claim in a slide traces to an artefact in the repo, and the heuristic fallback means a broken model never means a dead demo.</a:t>
            </a:r>
          </a:p>
        </p:txBody>
      </p:sp>
      <p:sp>
        <p:nvSpPr>
          <p:cNvPr id="31" name="TextBox 30"/>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32" name="TextBox 31"/>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188720"/>
            <a:ext cx="128016" cy="10058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143000"/>
            <a:ext cx="10058400" cy="365760"/>
          </a:xfrm>
          <a:prstGeom prst="rect">
            <a:avLst/>
          </a:prstGeom>
          <a:noFill/>
        </p:spPr>
        <p:txBody>
          <a:bodyPr wrap="square" anchor="t">
            <a:spAutoFit/>
          </a:bodyPr>
          <a:lstStyle/>
          <a:p>
            <a:pPr algn="l">
              <a:lnSpc>
                <a:spcPct val="100000"/>
              </a:lnSpc>
              <a:spcAft>
                <a:spcPts val="200"/>
              </a:spcAft>
            </a:pPr>
            <a:r>
              <a:rPr sz="1200" b="1">
                <a:solidFill>
                  <a:srgbClr val="22C55E"/>
                </a:solidFill>
                <a:latin typeface="Calibri"/>
              </a:rPr>
              <a:t>THE ASK</a:t>
            </a:r>
          </a:p>
        </p:txBody>
      </p:sp>
      <p:sp>
        <p:nvSpPr>
          <p:cNvPr id="5" name="TextBox 4"/>
          <p:cNvSpPr txBox="1"/>
          <p:nvPr/>
        </p:nvSpPr>
        <p:spPr>
          <a:xfrm>
            <a:off x="1051560" y="1463040"/>
            <a:ext cx="10424160" cy="1097280"/>
          </a:xfrm>
          <a:prstGeom prst="rect">
            <a:avLst/>
          </a:prstGeom>
          <a:noFill/>
        </p:spPr>
        <p:txBody>
          <a:bodyPr wrap="square" anchor="t">
            <a:spAutoFit/>
          </a:bodyPr>
          <a:lstStyle/>
          <a:p>
            <a:pPr algn="l">
              <a:lnSpc>
                <a:spcPct val="110000"/>
              </a:lnSpc>
              <a:spcAft>
                <a:spcPts val="200"/>
              </a:spcAft>
            </a:pPr>
            <a:r>
              <a:rPr sz="2700" b="1">
                <a:solidFill>
                  <a:srgbClr val="E5EDF8"/>
                </a:solidFill>
                <a:latin typeface="Calibri"/>
              </a:rPr>
              <a:t>Three purchases and one permission stand between this repository and a flood trial.</a:t>
            </a:r>
          </a:p>
        </p:txBody>
      </p:sp>
      <p:sp>
        <p:nvSpPr>
          <p:cNvPr id="6" name="TextBox 5"/>
          <p:cNvSpPr txBox="1"/>
          <p:nvPr/>
        </p:nvSpPr>
        <p:spPr>
          <a:xfrm>
            <a:off x="1051560" y="2834640"/>
            <a:ext cx="6035040" cy="2377440"/>
          </a:xfrm>
          <a:prstGeom prst="rect">
            <a:avLst/>
          </a:prstGeom>
          <a:noFill/>
        </p:spPr>
        <p:txBody>
          <a:bodyPr wrap="square" anchor="t">
            <a:spAutoFit/>
          </a:bodyPr>
          <a:lstStyle/>
          <a:p>
            <a:pPr algn="l">
              <a:lnSpc>
                <a:spcPct val="105000"/>
              </a:lnSpc>
              <a:spcAft>
                <a:spcPts val="400"/>
              </a:spcAft>
            </a:pPr>
            <a:r>
              <a:rPr sz="1400" b="1">
                <a:solidFill>
                  <a:srgbClr val="22C55E"/>
                </a:solidFill>
                <a:latin typeface="Calibri"/>
              </a:rPr>
              <a:t>▸  </a:t>
            </a:r>
            <a:r>
              <a:rPr sz="1400" b="1">
                <a:solidFill>
                  <a:srgbClr val="E5EDF8"/>
                </a:solidFill>
                <a:latin typeface="Calibri"/>
              </a:rPr>
              <a:t>Radiometric LWIR camera </a:t>
            </a:r>
            <a:r>
              <a:rPr sz="1400" b="0">
                <a:solidFill>
                  <a:srgbClr val="8EA3C0"/>
                </a:solidFill>
                <a:latin typeface="Calibri"/>
              </a:rPr>
              <a:t>(Lepton 3.5 / Boson 320) — the one sensor no phone can be.</a:t>
            </a:r>
          </a:p>
          <a:p>
            <a:pPr algn="l">
              <a:lnSpc>
                <a:spcPct val="105000"/>
              </a:lnSpc>
              <a:spcAft>
                <a:spcPts val="400"/>
              </a:spcAft>
            </a:pPr>
            <a:r>
              <a:rPr sz="1400" b="1">
                <a:solidFill>
                  <a:srgbClr val="22C55E"/>
                </a:solidFill>
                <a:latin typeface="Calibri"/>
              </a:rPr>
              <a:t>▸  </a:t>
            </a:r>
            <a:r>
              <a:rPr sz="1400" b="1">
                <a:solidFill>
                  <a:srgbClr val="E5EDF8"/>
                </a:solidFill>
                <a:latin typeface="Calibri"/>
              </a:rPr>
              <a:t>Airframe + 6S packs </a:t>
            </a:r>
            <a:r>
              <a:rPr sz="1400" b="0">
                <a:solidFill>
                  <a:srgbClr val="8EA3C0"/>
                </a:solidFill>
                <a:latin typeface="Calibri"/>
              </a:rPr>
              <a:t>to convert measured bench numbers into measured flight numbers.</a:t>
            </a:r>
          </a:p>
          <a:p>
            <a:pPr algn="l">
              <a:lnSpc>
                <a:spcPct val="105000"/>
              </a:lnSpc>
              <a:spcAft>
                <a:spcPts val="400"/>
              </a:spcAft>
            </a:pPr>
            <a:r>
              <a:rPr sz="1400" b="1">
                <a:solidFill>
                  <a:srgbClr val="22C55E"/>
                </a:solidFill>
                <a:latin typeface="Calibri"/>
              </a:rPr>
              <a:t>▸  </a:t>
            </a:r>
            <a:r>
              <a:rPr sz="1400" b="1">
                <a:solidFill>
                  <a:srgbClr val="E5EDF8"/>
                </a:solidFill>
                <a:latin typeface="Calibri"/>
              </a:rPr>
              <a:t>Two LoRa modems </a:t>
            </a:r>
            <a:r>
              <a:rPr sz="1400" b="0">
                <a:solidFill>
                  <a:srgbClr val="8EA3C0"/>
                </a:solidFill>
                <a:latin typeface="Calibri"/>
              </a:rPr>
              <a:t>for the air and the ground team.</a:t>
            </a:r>
          </a:p>
          <a:p>
            <a:pPr algn="l">
              <a:lnSpc>
                <a:spcPct val="105000"/>
              </a:lnSpc>
              <a:spcAft>
                <a:spcPts val="400"/>
              </a:spcAft>
            </a:pPr>
            <a:r>
              <a:rPr sz="1400" b="1">
                <a:solidFill>
                  <a:srgbClr val="22C55E"/>
                </a:solidFill>
                <a:latin typeface="Calibri"/>
              </a:rPr>
              <a:t>▸  </a:t>
            </a:r>
            <a:r>
              <a:rPr sz="1400" b="1">
                <a:solidFill>
                  <a:srgbClr val="E5EDF8"/>
                </a:solidFill>
                <a:latin typeface="Calibri"/>
              </a:rPr>
              <a:t>One permission: </a:t>
            </a:r>
            <a:r>
              <a:rPr sz="1400" b="0">
                <a:solidFill>
                  <a:srgbClr val="8EA3C0"/>
                </a:solidFill>
                <a:latin typeface="Calibri"/>
              </a:rPr>
              <a:t>a geofenced trial window with a district response team watching the same dashboard.</a:t>
            </a:r>
          </a:p>
        </p:txBody>
      </p:sp>
      <p:sp>
        <p:nvSpPr>
          <p:cNvPr id="7" name="Rounded Rectangle 6"/>
          <p:cNvSpPr/>
          <p:nvPr/>
        </p:nvSpPr>
        <p:spPr>
          <a:xfrm>
            <a:off x="7406640" y="2834640"/>
            <a:ext cx="4023360" cy="237744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0" y="3063240"/>
            <a:ext cx="3566160" cy="1737360"/>
          </a:xfrm>
          <a:prstGeom prst="rect">
            <a:avLst/>
          </a:prstGeom>
          <a:noFill/>
        </p:spPr>
        <p:txBody>
          <a:bodyPr wrap="square" anchor="t">
            <a:spAutoFit/>
          </a:bodyPr>
          <a:lstStyle/>
          <a:p>
            <a:pPr algn="l">
              <a:lnSpc>
                <a:spcPct val="125000"/>
              </a:lnSpc>
              <a:spcAft>
                <a:spcPts val="200"/>
              </a:spcAft>
            </a:pPr>
            <a:r>
              <a:rPr sz="1400" b="1">
                <a:solidFill>
                  <a:srgbClr val="22C55E"/>
                </a:solidFill>
                <a:latin typeface="Calibri"/>
              </a:rPr>
              <a:t>Live today, in this room:</a:t>
            </a:r>
          </a:p>
          <a:p>
            <a:pPr algn="l">
              <a:lnSpc>
                <a:spcPct val="125000"/>
              </a:lnSpc>
              <a:spcAft>
                <a:spcPts val="200"/>
              </a:spcAft>
            </a:pPr>
            <a:r>
              <a:rPr sz="1250" b="0">
                <a:solidFill>
                  <a:srgbClr val="8EA3C0"/>
                </a:solidFill>
                <a:latin typeface="Calibri"/>
              </a:rPr>
              <a:t>· simulated sortie on the dashboard</a:t>
            </a:r>
          </a:p>
          <a:p>
            <a:pPr algn="l">
              <a:lnSpc>
                <a:spcPct val="125000"/>
              </a:lnSpc>
              <a:spcAft>
                <a:spcPts val="200"/>
              </a:spcAft>
            </a:pPr>
            <a:r>
              <a:rPr sz="1250" b="0">
                <a:solidFill>
                  <a:srgbClr val="8EA3C0"/>
                </a:solidFill>
                <a:latin typeface="Calibri"/>
              </a:rPr>
              <a:t>· phone bridge bench on a real device</a:t>
            </a:r>
          </a:p>
          <a:p>
            <a:pPr algn="l">
              <a:lnSpc>
                <a:spcPct val="125000"/>
              </a:lnSpc>
              <a:spcAft>
                <a:spcPts val="200"/>
              </a:spcAft>
            </a:pPr>
            <a:r>
              <a:rPr sz="1250" b="0">
                <a:solidFill>
                  <a:srgbClr val="8EA3C0"/>
                </a:solidFill>
                <a:latin typeface="Calibri"/>
              </a:rPr>
              <a:t>· trained detector on rendered frames</a:t>
            </a:r>
          </a:p>
          <a:p>
            <a:pPr algn="l">
              <a:lnSpc>
                <a:spcPct val="125000"/>
              </a:lnSpc>
              <a:spcAft>
                <a:spcPts val="200"/>
              </a:spcAft>
            </a:pPr>
            <a:r>
              <a:rPr sz="1250" b="0">
                <a:solidFill>
                  <a:srgbClr val="8EA3C0"/>
                </a:solidFill>
                <a:latin typeface="Calibri"/>
              </a:rPr>
              <a:t>· every artefact, checksummed</a:t>
            </a:r>
          </a:p>
        </p:txBody>
      </p:sp>
      <p:sp>
        <p:nvSpPr>
          <p:cNvPr id="9" name="TextBox 8"/>
          <p:cNvSpPr txBox="1"/>
          <p:nvPr/>
        </p:nvSpPr>
        <p:spPr>
          <a:xfrm>
            <a:off x="1051560" y="5623560"/>
            <a:ext cx="10424160" cy="731520"/>
          </a:xfrm>
          <a:prstGeom prst="rect">
            <a:avLst/>
          </a:prstGeom>
          <a:noFill/>
        </p:spPr>
        <p:txBody>
          <a:bodyPr wrap="square" anchor="t">
            <a:spAutoFit/>
          </a:bodyPr>
          <a:lstStyle/>
          <a:p>
            <a:pPr algn="l">
              <a:lnSpc>
                <a:spcPct val="100000"/>
              </a:lnSpc>
              <a:spcAft>
                <a:spcPts val="200"/>
              </a:spcAft>
            </a:pPr>
            <a:r>
              <a:rPr sz="2000" b="1">
                <a:solidFill>
                  <a:srgbClr val="22C55E"/>
                </a:solidFill>
                <a:latin typeface="Calibri"/>
              </a:rPr>
              <a:t>SAHYOG</a:t>
            </a:r>
            <a:r>
              <a:rPr sz="1600" b="0">
                <a:solidFill>
                  <a:srgbClr val="E5EDF8"/>
                </a:solidFill>
                <a:latin typeface="Calibri"/>
              </a:rPr>
              <a:t>  ·  the drone finds them by body heat, and the phone in your pocket flies the AI.</a:t>
            </a:r>
          </a:p>
        </p:txBody>
      </p:sp>
      <p:sp>
        <p:nvSpPr>
          <p:cNvPr id="10" name="TextBox 9"/>
          <p:cNvSpPr txBox="1"/>
          <p:nvPr/>
        </p:nvSpPr>
        <p:spPr>
          <a:xfrm>
            <a:off x="502920" y="6473952"/>
            <a:ext cx="7315200" cy="274320"/>
          </a:xfrm>
          <a:prstGeom prst="rect">
            <a:avLst/>
          </a:prstGeom>
          <a:noFill/>
        </p:spPr>
        <p:txBody>
          <a:bodyPr wrap="square" anchor="t">
            <a:spAutoFit/>
          </a:bodyPr>
          <a:lstStyle/>
          <a:p>
            <a:pPr algn="l">
              <a:lnSpc>
                <a:spcPct val="100000"/>
              </a:lnSpc>
              <a:spcAft>
                <a:spcPts val="200"/>
              </a:spcAft>
            </a:pPr>
            <a:r>
              <a:rPr sz="900" b="0">
                <a:solidFill>
                  <a:srgbClr val="8EA3C0"/>
                </a:solidFill>
                <a:latin typeface="Calibri"/>
              </a:rPr>
              <a:t>SAHYOG · SIH 2026 · PS 26177</a:t>
            </a:r>
          </a:p>
        </p:txBody>
      </p:sp>
      <p:sp>
        <p:nvSpPr>
          <p:cNvPr id="11" name="TextBox 10"/>
          <p:cNvSpPr txBox="1"/>
          <p:nvPr/>
        </p:nvSpPr>
        <p:spPr>
          <a:xfrm>
            <a:off x="11292840" y="6473952"/>
            <a:ext cx="457200" cy="274320"/>
          </a:xfrm>
          <a:prstGeom prst="rect">
            <a:avLst/>
          </a:prstGeom>
          <a:noFill/>
        </p:spPr>
        <p:txBody>
          <a:bodyPr wrap="square" anchor="t">
            <a:spAutoFit/>
          </a:bodyPr>
          <a:lstStyle/>
          <a:p>
            <a:pPr algn="r">
              <a:lnSpc>
                <a:spcPct val="100000"/>
              </a:lnSpc>
              <a:spcAft>
                <a:spcPts val="200"/>
              </a:spcAft>
            </a:pPr>
            <a:r>
              <a:rPr sz="900" b="0">
                <a:solidFill>
                  <a:srgbClr val="8EA3C0"/>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