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SMART INDIA HACKATHON 2026 · ROBOTICS &amp; DRONES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6600" b="1">
                <a:solidFill>
                  <a:srgbClr val="E5EDF8"/>
                </a:solidFill>
                <a:latin typeface="Calibri"/>
              </a:rPr>
              <a:t>SAHYOG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2C55E"/>
                </a:solidFill>
                <a:latin typeface="Calibri"/>
              </a:rPr>
              <a:t>Autonomous AI Search-&amp;-Rescue VTOL Drone with a Physics-Engine for GNSS-denied, low-connectivity disaster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8EA3C0"/>
                </a:solidFill>
                <a:latin typeface="Calibri"/>
              </a:rPr>
              <a:t>RGB + LWIR edge AI  ·  physics-informed survivor identification  ·  ExpressLRS / MAVLink reporting  ·  payload delivery + safe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451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Problem Statement 26177 · Qualcomm Inc · </a:t>
            </a:r>
            <a:r>
              <a:rPr sz="1300" b="0">
                <a:solidFill>
                  <a:srgbClr val="8EA3C0"/>
                </a:solidFill>
                <a:latin typeface="Calibri"/>
              </a:rPr>
              <a:t>“A deployable AI-powered autonomous drone that aids search-and-rescue operations by detecting people and hazards, improving responder safety and reducing victim discovery time.”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30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8EA3C0"/>
                </a:solidFill>
                <a:latin typeface="Calibri"/>
              </a:rPr>
              <a:t>Team: </a:t>
            </a:r>
            <a:r>
              <a:rPr sz="1300" b="1">
                <a:solidFill>
                  <a:srgbClr val="E5EDF8"/>
                </a:solidFill>
                <a:latin typeface="Calibri"/>
              </a:rPr>
              <a:t>[Team Name]</a:t>
            </a:r>
            <a:r>
              <a:rPr sz="1300" b="0">
                <a:solidFill>
                  <a:srgbClr val="8EA3C0"/>
                </a:solidFill>
                <a:latin typeface="Calibri"/>
              </a:rPr>
              <a:t>   ·   Institute: </a:t>
            </a:r>
            <a:r>
              <a:rPr sz="1300" b="1">
                <a:solidFill>
                  <a:srgbClr val="E5EDF8"/>
                </a:solidFill>
                <a:latin typeface="Calibri"/>
              </a:rPr>
              <a:t>[Institute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Every hour lost costs lives in a disaster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126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2C55E"/>
                </a:solidFill>
                <a:latin typeface="Calibri"/>
              </a:rPr>
              <a:t>▸  </a:t>
            </a:r>
            <a:r>
              <a:rPr sz="1500" b="1">
                <a:solidFill>
                  <a:srgbClr val="E5EDF8"/>
                </a:solidFill>
                <a:latin typeface="Calibri"/>
              </a:rPr>
              <a:t>Golden hour. </a:t>
            </a:r>
            <a:r>
              <a:rPr sz="1500" b="0">
                <a:solidFill>
                  <a:srgbClr val="8EA3C0"/>
                </a:solidFill>
                <a:latin typeface="Calibri"/>
              </a:rPr>
              <a:t>Survival probability falls steeply in the first hours; current ground assessment is slow, dangerous and resource-heavy.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2C55E"/>
                </a:solidFill>
                <a:latin typeface="Calibri"/>
              </a:rPr>
              <a:t>▸  </a:t>
            </a:r>
            <a:r>
              <a:rPr sz="1500" b="1">
                <a:solidFill>
                  <a:srgbClr val="E5EDF8"/>
                </a:solidFill>
                <a:latin typeface="Calibri"/>
              </a:rPr>
              <a:t>GNSS-denied. </a:t>
            </a:r>
            <a:r>
              <a:rPr sz="1500" b="0">
                <a:solidFill>
                  <a:srgbClr val="8EA3C0"/>
                </a:solidFill>
                <a:latin typeface="Calibri"/>
              </a:rPr>
              <a:t>Floods, quakes and landslides happen under bridges, collapsed structures, dense canopy and indoors — where GPS fails.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2C55E"/>
                </a:solidFill>
                <a:latin typeface="Calibri"/>
              </a:rPr>
              <a:t>▸  </a:t>
            </a:r>
            <a:r>
              <a:rPr sz="1500" b="1">
                <a:solidFill>
                  <a:srgbClr val="E5EDF8"/>
                </a:solidFill>
                <a:latin typeface="Calibri"/>
              </a:rPr>
              <a:t>No connectivity. </a:t>
            </a:r>
            <a:r>
              <a:rPr sz="1500" b="0">
                <a:solidFill>
                  <a:srgbClr val="8EA3C0"/>
                </a:solidFill>
                <a:latin typeface="Calibri"/>
              </a:rPr>
              <a:t>Disaster zones have no internet, no cellular, and often no line-of-sight to the command post.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2C55E"/>
                </a:solidFill>
                <a:latin typeface="Calibri"/>
              </a:rPr>
              <a:t>▸  </a:t>
            </a:r>
            <a:r>
              <a:rPr sz="1500" b="1">
                <a:solidFill>
                  <a:srgbClr val="E5EDF8"/>
                </a:solidFill>
                <a:latin typeface="Calibri"/>
              </a:rPr>
              <a:t>False confidence. </a:t>
            </a:r>
            <a:r>
              <a:rPr sz="1500" b="0">
                <a:solidFill>
                  <a:srgbClr val="8EA3C0"/>
                </a:solidFill>
                <a:latin typeface="Calibri"/>
              </a:rPr>
              <a:t>A naive “person detected” pin without honest uncertainty sends responders into hazard or the wrong place.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2C55E"/>
                </a:solidFill>
                <a:latin typeface="Calibri"/>
              </a:rPr>
              <a:t>▸  </a:t>
            </a:r>
            <a:r>
              <a:rPr sz="1500" b="1">
                <a:solidFill>
                  <a:srgbClr val="E5EDF8"/>
                </a:solidFill>
                <a:latin typeface="Calibri"/>
              </a:rPr>
              <a:t>Hazards everywhere. </a:t>
            </a:r>
            <a:r>
              <a:rPr sz="1500" b="0">
                <a:solidFill>
                  <a:srgbClr val="8EA3C0"/>
                </a:solidFill>
                <a:latin typeface="Calibri"/>
              </a:rPr>
              <a:t>Floodwater, fire, debris, live wires and unstable structures kill rescuers, not just victims.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8EA3C0"/>
                </a:solidFill>
                <a:latin typeface="Calibri"/>
              </a:rPr>
              <a:t>The jury question we built for: “who faces this today, and why hasn’t it been solved?” — because connectivity, GNSS and trustable detection are exactly what a disaster removes.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463040"/>
            <a:ext cx="4343400" cy="4572000"/>
          </a:xfrm>
          <a:prstGeom prst="roundRect">
            <a:avLst>
              <a:gd name="adj" fmla="val 5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tch_0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3977639" cy="15910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8040" y="614476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EA3C0"/>
                </a:solidFill>
                <a:latin typeface="Calibri"/>
              </a:rPr>
              <a:t>Survival vs time — every minute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One airframe, six capabilities — all on-device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8EA3C0"/>
                </a:solidFill>
                <a:latin typeface="Calibri"/>
              </a:rPr>
              <a:t>A 3D-printed VTOL drone on an H743-Wing flight controller that searches autonomously, identifies survivors and hazards on the edge, navigates without GNSS, and reports only verified, geo-tagged, actionable intelligence over a radio link that survives outages.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42900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47802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4378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RGB + LWIR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264408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YOLO on fused visible + thermal imagery for people and hazards (flood, fire, debris, collapse).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331720"/>
            <a:ext cx="34290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7802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4378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Physics-engine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64408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Posture, thermal physiology, decoy veto and triage from physical models — the novelty.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3317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331720"/>
            <a:ext cx="342900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7802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84378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GNSS-denied nav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264408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EKF3 external-nav switching to visual-inertial odometry, with honest position uncertainty.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9767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297679"/>
            <a:ext cx="342900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443983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80974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Offline comms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230367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ExpressLRS + MAVLink + LoRa store-and-forward; verified reports, not video streams.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9767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297679"/>
            <a:ext cx="342900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443983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80974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Geo-tagged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5230367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Survivor &amp; hazard pins with error ellipses that grow correctly when the fix degrades.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297679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4297679"/>
            <a:ext cx="342900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4443983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DC2626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480974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5EDF8"/>
                </a:solidFill>
                <a:latin typeface="Calibri"/>
              </a:rPr>
              <a:t>Rescue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5230367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Ballistic payload drop and A* safe routes for ground &amp; boat teams.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End-to-end system architecture</a:t>
            </a:r>
          </a:p>
        </p:txBody>
      </p:sp>
      <p:pic>
        <p:nvPicPr>
          <p:cNvPr id="6" name="Picture 5" descr="pitch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10652760" cy="58807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Sensing → on-device AI → navigation → comms → command centre. Every block is a real, tested module in this repository (134 unit tests).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A physics engine inside the AI</a:t>
            </a:r>
          </a:p>
        </p:txBody>
      </p:sp>
      <p:pic>
        <p:nvPicPr>
          <p:cNvPr id="6" name="Picture 5" descr="pitch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10652760" cy="31567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▸  </a:t>
            </a:r>
            <a:r>
              <a:rPr sz="1250" b="1">
                <a:solidFill>
                  <a:srgbClr val="E5EDF8"/>
                </a:solidFill>
                <a:latin typeface="Calibri"/>
              </a:rPr>
              <a:t>Posture from physics, not pixels. </a:t>
            </a:r>
            <a:r>
              <a:rPr sz="1250" b="0">
                <a:solidFill>
                  <a:srgbClr val="8EA3C0"/>
                </a:solidFill>
                <a:latin typeface="Calibri"/>
              </a:rPr>
              <a:t>A nadir thermal blob cannot show a posture directly — so we infer it from water depth, elongation, motion and nearby-hazard context, each a physical quantity.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▸  </a:t>
            </a:r>
            <a:r>
              <a:rPr sz="1250" b="1">
                <a:solidFill>
                  <a:srgbClr val="E5EDF8"/>
                </a:solidFill>
                <a:latin typeface="Calibri"/>
              </a:rPr>
              <a:t>Thermal physiology. </a:t>
            </a:r>
            <a:r>
              <a:rPr sz="1250" b="0">
                <a:solidFill>
                  <a:srgbClr val="8EA3C0"/>
                </a:solidFill>
                <a:latin typeface="Calibri"/>
              </a:rPr>
              <a:t>Apparent temperature + trend maps to cold-water survival / wind-chill models → a time-criticality and triage tier, with uncertainty reported instead of a diagnosis.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▸  </a:t>
            </a:r>
            <a:r>
              <a:rPr sz="1250" b="1">
                <a:solidFill>
                  <a:srgbClr val="E5EDF8"/>
                </a:solidFill>
                <a:latin typeface="Calibri"/>
              </a:rPr>
              <a:t>Decoy veto. </a:t>
            </a:r>
            <a:r>
              <a:rPr sz="1250" b="0">
                <a:solidFill>
                  <a:srgbClr val="8EA3C0"/>
                </a:solidFill>
                <a:latin typeface="Calibri"/>
              </a:rPr>
              <a:t>Morphological, radiometric and kinematic rules reject sun-heated roofs, vehicles, hot rocks and glints.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▸  </a:t>
            </a:r>
            <a:r>
              <a:rPr sz="1250" b="1">
                <a:solidFill>
                  <a:srgbClr val="E5EDF8"/>
                </a:solidFill>
                <a:latin typeface="Calibri"/>
              </a:rPr>
              <a:t>Actuation. </a:t>
            </a:r>
            <a:r>
              <a:rPr sz="1250" b="0">
                <a:solidFill>
                  <a:srgbClr val="8EA3C0"/>
                </a:solidFill>
                <a:latin typeface="Calibri"/>
              </a:rPr>
              <a:t>Ballistic drop (quadratic drag + wind) and A* routing over water, debris and hazard severity.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RGB + LWIR + YOLO, fused on the edge</a:t>
            </a:r>
          </a:p>
        </p:txBody>
      </p:sp>
      <p:pic>
        <p:nvPicPr>
          <p:cNvPr id="6" name="Picture 5" descr="pitch_03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035040" cy="23205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Two sensors. </a:t>
            </a:r>
            <a:r>
              <a:rPr sz="1300" b="0">
                <a:solidFill>
                  <a:srgbClr val="8EA3C0"/>
                </a:solidFill>
                <a:latin typeface="Calibri"/>
              </a:rPr>
              <a:t>RGB for saliency &amp; shape; LWIR for radiometry, vitals and night operation.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YOLO family. </a:t>
            </a:r>
            <a:r>
              <a:rPr sz="1300" b="0">
                <a:solidFill>
                  <a:srgbClr val="8EA3C0"/>
                </a:solidFill>
                <a:latin typeface="Calibri"/>
              </a:rPr>
              <a:t>YOLOv8/YOLO11 backends behind one interface — heuristic audited ensemble flies today; INT8/QNN weights drop in when trained.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Cross-modal veto. </a:t>
            </a:r>
            <a:r>
              <a:rPr sz="1300" b="0">
                <a:solidFill>
                  <a:srgbClr val="8EA3C0"/>
                </a:solidFill>
                <a:latin typeface="Calibri"/>
              </a:rPr>
              <a:t>A person must survive both modalities; physics-gated so a warm roof is rejected on geometry.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Geometry gate. </a:t>
            </a:r>
            <a:r>
              <a:rPr sz="1300" b="0">
                <a:solidFill>
                  <a:srgbClr val="8EA3C0"/>
                </a:solidFill>
                <a:latin typeface="Calibri"/>
              </a:rPr>
              <a:t>Ground-sample-distance aware: detection rate is governed by altitude × lens × target extent.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56692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8EA3C0"/>
                </a:solidFill>
                <a:latin typeface="Calibri"/>
              </a:rPr>
              <a:t>Measured: recall 1.00 of resolvable targets at 35/50/70 m; the work is clutter rejection (precision), not blindness.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Flying where there is no GPS</a:t>
            </a:r>
          </a:p>
        </p:txBody>
      </p:sp>
      <p:pic>
        <p:nvPicPr>
          <p:cNvPr id="6" name="Picture 5" descr="pitch_04_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035040" cy="2528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EKF3 source sets. </a:t>
            </a:r>
            <a:r>
              <a:rPr sz="1300" b="0">
                <a:solidFill>
                  <a:srgbClr val="8EA3C0"/>
                </a:solidFill>
                <a:latin typeface="Calibri"/>
              </a:rPr>
              <a:t>GNSS (set 1) ↔ external-nav VIO (set 2), switched by a quality monitor with hysteresis.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Honest uncertainty. </a:t>
            </a:r>
            <a:r>
              <a:rPr sz="1300" b="0">
                <a:solidFill>
                  <a:srgbClr val="8EA3C0"/>
                </a:solidFill>
                <a:latin typeface="Calibri"/>
              </a:rPr>
              <a:t>A position’s reported sigma bounds its true error; a survivor pin under denial is visibly less trustworthy.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Proven in-sim. </a:t>
            </a:r>
            <a:r>
              <a:rPr sz="1300" b="0">
                <a:solidFill>
                  <a:srgbClr val="8EA3C0"/>
                </a:solidFill>
                <a:latin typeface="Calibri"/>
              </a:rPr>
              <a:t>Mid-sortie denial at 100 s: source switched, a survivor was geo-tagged at dead-reckoning sigma 2.1 m, GNSS restored.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On hardware. </a:t>
            </a:r>
            <a:r>
              <a:rPr sz="1300" b="0">
                <a:solidFill>
                  <a:srgbClr val="8EA3C0"/>
                </a:solidFill>
                <a:latin typeface="Calibri"/>
              </a:rPr>
              <a:t>ArduPilot EK3_SRCn_POSXY/VELXY = 6 wired for a real VIO feed (OpenVINS / VOXL).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Verified reports, not video</a:t>
            </a:r>
          </a:p>
        </p:txBody>
      </p:sp>
      <p:pic>
        <p:nvPicPr>
          <p:cNvPr id="6" name="Picture 5" descr="pitch_05_com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035040" cy="2414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ExpressLRS. </a:t>
            </a:r>
            <a:r>
              <a:rPr sz="1300" b="0">
                <a:solidFill>
                  <a:srgbClr val="8EA3C0"/>
                </a:solidFill>
                <a:latin typeface="Calibri"/>
              </a:rPr>
              <a:t>Control + short MAVLink status on the 2.4 GHz/900 MHz link — always up, but not a data link.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LoRa 900. </a:t>
            </a:r>
            <a:r>
              <a:rPr sz="1300" b="0">
                <a:solidFill>
                  <a:srgbClr val="8EA3C0"/>
                </a:solidFill>
                <a:latin typeface="Calibri"/>
              </a:rPr>
              <a:t>Structured survivor/hazard alerts over kilometres, non-line-of-sight.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Store-and-forward. </a:t>
            </a:r>
            <a:r>
              <a:rPr sz="1300" b="0">
                <a:solidFill>
                  <a:srgbClr val="8EA3C0"/>
                </a:solidFill>
                <a:latin typeface="Calibri"/>
              </a:rPr>
              <a:t>Byte-bounded priority queue with tier-aware eviction and spatial coalescing — a link outage costs latency, never a survivor.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No video. </a:t>
            </a:r>
            <a:r>
              <a:rPr sz="1300" b="0">
                <a:solidFill>
                  <a:srgbClr val="8EA3C0"/>
                </a:solidFill>
                <a:latin typeface="Calibri"/>
              </a:rPr>
              <a:t>Lightweight reports only; imagery is optional bulk traffic on a Wi-Fi bridge.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56692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8EA3C0"/>
                </a:solidFill>
                <a:latin typeface="Calibri"/>
              </a:rPr>
              <a:t>Measured: 96.9–97.8% packet success on the LoRa model across a full sortie with a 200 s outage.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RESCUE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Payload to the victim, path for the team</a:t>
            </a:r>
          </a:p>
        </p:txBody>
      </p:sp>
      <p:pic>
        <p:nvPicPr>
          <p:cNvPr id="6" name="Picture 5" descr="pitch_06_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035040" cy="24714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55448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Ballistic release. </a:t>
            </a:r>
            <a:r>
              <a:rPr sz="1300" b="0">
                <a:solidFill>
                  <a:srgbClr val="8EA3C0"/>
                </a:solidFill>
                <a:latin typeface="Calibri"/>
              </a:rPr>
              <a:t>Quadratic drag + wind → an optimal release point the aircraft flies to before dropping; parachute delay modelled.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Precision. </a:t>
            </a:r>
            <a:r>
              <a:rPr sz="1300" b="0">
                <a:solidFill>
                  <a:srgbClr val="8EA3C0"/>
                </a:solidFill>
                <a:latin typeface="Calibri"/>
              </a:rPr>
              <a:t>Release-lead approach cut drop error from ~62 m (drop where-you-are) to 5.6–18.4 m.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A* routing. </a:t>
            </a:r>
            <a:r>
              <a:rPr sz="1300" b="0">
                <a:solidFill>
                  <a:srgbClr val="8EA3C0"/>
                </a:solidFill>
                <a:latin typeface="Calibri"/>
              </a:rPr>
              <a:t>Ground &amp; boat teams get a safe corridor that respects wading depth, debris, structures and hazard severity.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▸  </a:t>
            </a:r>
            <a:r>
              <a:rPr sz="1300" b="1">
                <a:solidFill>
                  <a:srgbClr val="E5EDF8"/>
                </a:solidFill>
                <a:latin typeface="Calibri"/>
              </a:rPr>
              <a:t>Equipment matched. </a:t>
            </a:r>
            <a:r>
              <a:rPr sz="1300" b="0">
                <a:solidFill>
                  <a:srgbClr val="8EA3C0"/>
                </a:solidFill>
                <a:latin typeface="Calibri"/>
              </a:rPr>
              <a:t>Flotation for in-water victims, trauma kit, thermal blanket, beacon — chosen by the identification profile.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Simulated first, flown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MiniSITL sorties. </a:t>
            </a:r>
            <a:r>
              <a:rPr sz="1350" b="0">
                <a:solidFill>
                  <a:srgbClr val="8EA3C0"/>
                </a:solidFill>
                <a:latin typeface="Calibri"/>
              </a:rPr>
              <a:t>Full MAVLink mission loop: search → detect → report, with GNSS denial and link outages injected.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Gazebo. </a:t>
            </a:r>
            <a:r>
              <a:rPr sz="1350" b="0">
                <a:solidFill>
                  <a:srgbClr val="8EA3C0"/>
                </a:solidFill>
                <a:latin typeface="Calibri"/>
              </a:rPr>
              <a:t>A flood-town SDF world (buildings, water, victims) ships in worlds/flood_town/ for ROS/Gazebo testing.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AirSim. </a:t>
            </a:r>
            <a:r>
              <a:rPr sz="1350" b="0">
                <a:solidFill>
                  <a:srgbClr val="8EA3C0"/>
                </a:solidFill>
                <a:latin typeface="Calibri"/>
              </a:rPr>
              <a:t>A bridge module maps AirSim APIs to the same world model for photo-real flood scenes (requires Unreal Engine + GPU).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2C55E"/>
                </a:solidFill>
                <a:latin typeface="Calibri"/>
              </a:rPr>
              <a:t>▸  </a:t>
            </a:r>
            <a:r>
              <a:rPr sz="1350" b="1">
                <a:solidFill>
                  <a:srgbClr val="E5EDF8"/>
                </a:solidFill>
                <a:latin typeface="Calibri"/>
              </a:rPr>
              <a:t>Real drone. </a:t>
            </a:r>
            <a:r>
              <a:rPr sz="1350" b="0">
                <a:solidFill>
                  <a:srgbClr val="8EA3C0"/>
                </a:solidFill>
                <a:latin typeface="Calibri"/>
              </a:rPr>
              <a:t>H743-Wing + LWIR + companion computer; every bring-up step documented, arming gated behind a field checklist.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Measured results (this build)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574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Autonomy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57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134 passed · 2 skipped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871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Rescue sortie (flood)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871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8 survivors 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1693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Payload drops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916935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4 drops · mean error 17.1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46703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Best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46703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5.6 m (was 62 m naive)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7647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Detection recall /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76471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0.80 / 0.57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06239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Coverage (180 s sortie)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06239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30.6% 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36007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Geo-tag error (mean)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36007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16.3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6577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8EA3C0"/>
                </a:solidFill>
                <a:latin typeface="Calibri"/>
              </a:rPr>
              <a:t>Packet success (LoRa)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065775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5EDF8"/>
                </a:solidFill>
                <a:latin typeface="Calibri"/>
              </a:rPr>
              <a:t>96.9% over 223 packets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Built to be built — and flown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727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H743-Wing flight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3852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Latest STM32H743 autopilot, ArduPilot EKF3, multi-source aiding.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727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3D-printed airframe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Printed on our own printer; VTOL for tight urban and rooftop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70048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670048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77977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LWIR thermal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145536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Radiometric thermal for vitals, night and decoy rejection.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70048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70048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7977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RGB 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45536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Saliency, shape and hazard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77056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877056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986784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ExpressLRS + LoRa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352544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Control/status link plus the offline data link.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77056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77056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986784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Companion computer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352544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Runs the on-device AI stack (NPU-ready: QCS6490 / Jetson).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84064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084064"/>
            <a:ext cx="64008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19379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Rescue payload bay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559552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Interchangeable flotation, first-aid, blanket and beacon payloads.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84064"/>
            <a:ext cx="5257800" cy="1051560"/>
          </a:xfrm>
          <a:prstGeom prst="roundRect">
            <a:avLst>
              <a:gd name="adj" fmla="val 7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084064"/>
            <a:ext cx="64008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19379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E5EDF8"/>
                </a:solidFill>
                <a:latin typeface="Calibri"/>
              </a:rPr>
              <a:t>Ground control station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559552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Live + offline-replay command dashboard.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Stack and where each piece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4864" cy="6583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Detection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8132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YOLOv8 / YOLO11 · ONNX Runtime · INT8 / QNN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48132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8BDF8"/>
                </a:solidFill>
                <a:latin typeface="Calibri"/>
              </a:rPr>
              <a:t>Companion computer / NPU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39696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03703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Physics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03703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Thermal physiology · posture · ballistic drop · 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203703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F59E0B"/>
                </a:solidFill>
                <a:latin typeface="Calibri"/>
              </a:rPr>
              <a:t>On-device Python (numpy)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62072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62072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26079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Autopilot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26079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ArduPilot · MAVLink · EKF3 external-nav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926079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22C55E"/>
                </a:solidFill>
                <a:latin typeface="Calibri"/>
              </a:rPr>
              <a:t>H743-Wing flight controller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84448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584448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4845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Comms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648456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ExpressLRS (CRSF) · LoRa 900 · MAVLink 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648456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22C55E"/>
                </a:solidFill>
                <a:latin typeface="Calibri"/>
              </a:rPr>
              <a:t>On-aircraft radios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06824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306824"/>
            <a:ext cx="54864" cy="6583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370832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370832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MiniSITL · Gazebo (SDF) · AirSim bridge · flood renderer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370832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8BDF8"/>
                </a:solidFill>
                <a:latin typeface="Calibri"/>
              </a:rPr>
              <a:t>Development laptop / CI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029200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029200"/>
            <a:ext cx="54864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93208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09320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FastAPI + canvas command centre · offline replay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0932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DC2626"/>
                </a:solidFill>
                <a:latin typeface="Calibri"/>
              </a:rPr>
              <a:t>Ground 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51576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751576"/>
            <a:ext cx="54864" cy="658368"/>
          </a:xfrm>
          <a:prstGeom prst="rect">
            <a:avLst/>
          </a:prstGeom>
          <a:solidFill>
            <a:srgbClr val="E5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815584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E5EDF8"/>
                </a:solidFill>
                <a:latin typeface="Calibri"/>
              </a:rPr>
              <a:t>Language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81558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EA3C0"/>
                </a:solidFill>
                <a:latin typeface="Calibri"/>
              </a:rPr>
              <a:t>Python 3.11 · numpy · scipy · pytest (134 tests)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5815584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5EDF8"/>
                </a:solidFill>
                <a:latin typeface="Calibri"/>
              </a:rPr>
              <a:t>End-to-end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Faster, safer rescue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54864" cy="17373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64207"/>
            <a:ext cx="2377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2C55E"/>
                </a:solidFill>
                <a:latin typeface="Calibri"/>
              </a:rPr>
              <a:t>min–hours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34639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to first verified survivor pin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54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554480"/>
            <a:ext cx="54864" cy="1737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664207"/>
            <a:ext cx="2377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38BDF8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834639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on-device — works with zero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554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55448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664207"/>
            <a:ext cx="2377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5.6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834639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precision payload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554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554480"/>
            <a:ext cx="54864" cy="1737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1664207"/>
            <a:ext cx="2377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DC2626"/>
                </a:solidFill>
                <a:latin typeface="Calibri"/>
              </a:rPr>
              <a:t>±m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834639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EA3C0"/>
                </a:solidFill>
                <a:latin typeface="Calibri"/>
              </a:rPr>
              <a:t>honest geo-tag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10698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For responders. </a:t>
            </a:r>
            <a:r>
              <a:rPr sz="1400" b="0">
                <a:solidFill>
                  <a:srgbClr val="8EA3C0"/>
                </a:solidFill>
                <a:latin typeface="Calibri"/>
              </a:rPr>
              <a:t>A geo-tagged, triage-ordered survivor &amp; hazard map with safe access routes — before boots hit the ground.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For victims. </a:t>
            </a:r>
            <a:r>
              <a:rPr sz="1400" b="0">
                <a:solidFill>
                  <a:srgbClr val="8EA3C0"/>
                </a:solidFill>
                <a:latin typeface="Calibri"/>
              </a:rPr>
              <a:t>Immediate payload (flotation, first-aid, blanket, beacon) while help is routed.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For the state. </a:t>
            </a:r>
            <a:r>
              <a:rPr sz="1400" b="0">
                <a:solidFill>
                  <a:srgbClr val="8EA3C0"/>
                </a:solidFill>
                <a:latin typeface="Calibri"/>
              </a:rPr>
              <a:t>Scales from one drone to a fleet; belief maps are serialisable for multi-aircraft hand-off; offline by construction.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5EDF8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Trained thermal weights. </a:t>
            </a:r>
            <a:r>
              <a:rPr sz="1400" b="0">
                <a:solidFill>
                  <a:srgbClr val="8EA3C0"/>
                </a:solidFill>
                <a:latin typeface="Calibri"/>
              </a:rPr>
              <a:t>HIT-UAV / AIResQ / SARD fine-tune + INT8/QNN quantisation on the Qualcomm NPU (pipeline and gates already built).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Real VIO front end. </a:t>
            </a:r>
            <a:r>
              <a:rPr sz="1400" b="0">
                <a:solidFill>
                  <a:srgbClr val="8EA3C0"/>
                </a:solidFill>
                <a:latin typeface="Calibri"/>
              </a:rPr>
              <a:t>OpenVINS / VINS-Fusion publishing MAVLink ODOMETRY — the consumer side is already tested against that stream.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Multi-aircraft hand-off. </a:t>
            </a:r>
            <a:r>
              <a:rPr sz="1400" b="0">
                <a:solidFill>
                  <a:srgbClr val="8EA3C0"/>
                </a:solidFill>
                <a:latin typeface="Calibri"/>
              </a:rPr>
              <a:t>Belief-map resume across batteries and airframes for whole-basin coverage.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Active learning. </a:t>
            </a:r>
            <a:r>
              <a:rPr sz="1400" b="0">
                <a:solidFill>
                  <a:srgbClr val="8EA3C0"/>
                </a:solidFill>
                <a:latin typeface="Calibri"/>
              </a:rPr>
              <a:t>Field false alarms looped back into the detector.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Hazard-model priors. </a:t>
            </a:r>
            <a:r>
              <a:rPr sz="1400" b="0">
                <a:solidFill>
                  <a:srgbClr val="8EA3C0"/>
                </a:solidFill>
                <a:latin typeface="Calibri"/>
              </a:rPr>
              <a:t>RescueNet segmentation feeding the cross-modal veto as a prior.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▸  </a:t>
            </a:r>
            <a:r>
              <a:rPr sz="1400" b="1">
                <a:solidFill>
                  <a:srgbClr val="E5EDF8"/>
                </a:solidFill>
                <a:latin typeface="Calibri"/>
              </a:rPr>
              <a:t>Autonomous arm-and-fly. </a:t>
            </a:r>
            <a:r>
              <a:rPr sz="1400" b="0">
                <a:solidFill>
                  <a:srgbClr val="8EA3C0"/>
                </a:solidFill>
                <a:latin typeface="Calibri"/>
              </a:rPr>
              <a:t>Deliberately gated behind the field-test checklist until a human has flight-validated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6000" b="1">
                <a:solidFill>
                  <a:srgbClr val="E5EDF8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2C55E"/>
                </a:solidFill>
                <a:latin typeface="Calibri"/>
              </a:rPr>
              <a:t>SAHYOG — search fast, report truth, rescue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EA3C0"/>
                </a:solidFill>
                <a:latin typeface="Calibri"/>
              </a:rPr>
              <a:t>Live demo: mission command centre · offline mission replay · full source and 134 tests in this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8EA3C0"/>
                </a:solidFill>
                <a:latin typeface="Calibri"/>
              </a:rPr>
              <a:t>[Team name]  ·  [Institute]  ·  SIH 2026 · Robotics &amp; Drones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SAHYOG · SIH 2026 · PS 26177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EA3C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