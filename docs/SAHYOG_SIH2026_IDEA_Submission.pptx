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submission, slide 1 of 6. Nothing to say here beyond the portal-exact problem statement title - judges check it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first, then solution, then the advantage, then the beneficiary - in that order, one breath each. The 4-10 pixel number is the hook: it is why every other approach fails and why ours is shaped the way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method lines, each ending in a number or a named algorithm. If a judge interrupts, any line can be defended from the repository. Do not read this slide; point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feasibility axes in the template's own order, then the risk table. Naming risks with owned mitigations is the single cheapest credibility win in this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Answering the template's 'negative impact' prompt is the differentiator: ninety percent of teams pretend there are none. We name two and close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difference line, then offer the demo. 'Every claim on these six slides traces to a checksummed artefact in our repository - we would rather show you the measurement than ask you to trust the adjective.'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914400"/>
            <a:ext cx="10634472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E5EDF8"/>
                </a:solidFill>
                <a:latin typeface="Calibri"/>
              </a:rP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22C55E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EA3C0"/>
                </a:solidFill>
                <a:latin typeface="Calibri"/>
              </a:rPr>
              <a:t>Problem Statement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2606040"/>
            <a:ext cx="6583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E5EDF8"/>
                </a:solidFill>
                <a:latin typeface="Calibri"/>
              </a:rPr>
              <a:t>SIH26177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81528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EA3C0"/>
                </a:solidFill>
                <a:latin typeface="Calibri"/>
              </a:rPr>
              <a:t>Problem Statement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081528"/>
            <a:ext cx="6583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E5EDF8"/>
                </a:solidFill>
                <a:latin typeface="Calibri"/>
              </a:rPr>
              <a:t>&lt;paste exact title from the SIH portal&gt; - autonomous UAV-based search, detection and assistance for disaster survivors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57016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EA3C0"/>
                </a:solidFill>
                <a:latin typeface="Calibri"/>
              </a:rPr>
              <a:t>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557016"/>
            <a:ext cx="6583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E5EDF8"/>
                </a:solidFill>
                <a:latin typeface="Calibri"/>
              </a:rPr>
              <a:t>Robotics &amp; Drones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32504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EA3C0"/>
                </a:solidFill>
                <a:latin typeface="Calibri"/>
              </a:rPr>
              <a:t>PS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032504"/>
            <a:ext cx="6583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E5EDF8"/>
                </a:solidFill>
                <a:latin typeface="Calibri"/>
              </a:rPr>
              <a:t>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07992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EA3C0"/>
                </a:solidFill>
                <a:latin typeface="Calibri"/>
              </a:rPr>
              <a:t>Organization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507992"/>
            <a:ext cx="6583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E5EDF8"/>
                </a:solidFill>
                <a:latin typeface="Calibri"/>
              </a:rPr>
              <a:t>Qualcomm Inc.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83479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EA3C0"/>
                </a:solidFill>
                <a:latin typeface="Calibri"/>
              </a:rPr>
              <a:t>Team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983479"/>
            <a:ext cx="6583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E5EDF8"/>
                </a:solidFill>
                <a:latin typeface="Calibri"/>
              </a:rPr>
              <a:t>&lt;TEAM ID&gt;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58967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EA3C0"/>
                </a:solidFill>
                <a:latin typeface="Calibri"/>
              </a:rPr>
              <a:t>Team Name (registered on portal)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5458967"/>
            <a:ext cx="6583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E5EDF8"/>
                </a:solidFill>
                <a:latin typeface="Calibri"/>
              </a:rPr>
              <a:t>&lt;TEAM NAME (as registered on portal)&gt;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34455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EA3C0"/>
                </a:solidFill>
                <a:latin typeface="Calibri"/>
              </a:rPr>
              <a:t>Institute (AISHE)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5934455"/>
            <a:ext cx="6583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E5EDF8"/>
                </a:solidFill>
                <a:latin typeface="Calibri"/>
              </a:rPr>
              <a:t>&lt;INSTITUTE NAME&gt;  ·  &lt;AISHE CODE&gt;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DF8"/>
                </a:solidFill>
                <a:latin typeface="Calibri"/>
              </a:rPr>
              <a:t>IDEA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EA3C0"/>
                </a:solidFill>
                <a:latin typeface="Calibri"/>
              </a:rPr>
              <a:t>@SIH Idea submission 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&lt;TEAM NAME (as registered on portal)&gt;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164592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8EA3C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2C55E"/>
                </a:solidFill>
                <a:latin typeface="Calibri"/>
              </a:rPr>
              <a:t>SAHYOG - the phone-powered thermal search drone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IDEA / SOLUTION: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111556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The problem, in our words: </a:t>
            </a:r>
            <a:r>
              <a:rPr sz="1400" b="0">
                <a:solidFill>
                  <a:srgbClr val="8EA3C0"/>
                </a:solidFill>
                <a:latin typeface="Calibri"/>
              </a:rPr>
              <a:t>in floods and quakes, survivors are lost in the first hour because search is a human watching thermal video; GPS, networks and roads fail together; and at survey altitude a human body is 4-10 pixels - smaller than one grid cell of an off-the-shelf detector (measured mAP50 0.0009, i.e. blind). Affected: flood/quake survivors and the SDRF/NDRF/district teams who reach them late.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The solution, in our words: </a:t>
            </a:r>
            <a:r>
              <a:rPr sz="1400" b="0">
                <a:solidFill>
                  <a:srgbClr val="8EA3C0"/>
                </a:solidFill>
                <a:latin typeface="Calibri"/>
              </a:rPr>
              <a:t>an autonomous drone that fuses a radiometric LWIR camera with an Android phone's RGB camera, detects survivors with a YOLO11n carrying an added stride-4 (P2) head, passes every detection through physics gates, and returns 200-byte verified survivor packets over LoRa - entirely on-device, no internet at any step.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The unfair advantage: </a:t>
            </a:r>
            <a:r>
              <a:rPr sz="1400" b="0">
                <a:solidFill>
                  <a:srgbClr val="8EA3C0"/>
                </a:solidFill>
                <a:latin typeface="Calibri"/>
              </a:rPr>
              <a:t>the phone supplies six subsystems (stabilised RGB, INT8 NPU, VIO, 4G relay, display, backup battery) = Rs 0 of a Rs 35,000+ payload; its Hexagon DSP is the same family as this PS's target QCS6490 board - one model, two destinations.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Who it serves: </a:t>
            </a:r>
            <a:r>
              <a:rPr sz="1400" b="0">
                <a:solidFill>
                  <a:srgbClr val="8EA3C0"/>
                </a:solidFill>
                <a:latin typeface="Calibri"/>
              </a:rPr>
              <a:t>district disaster control rooms; first-hour search of 9 ha per 10-minute pass, night, smoke or canopy.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DF8"/>
                </a:solidFill>
                <a:latin typeface="Calibri"/>
              </a:rP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EA3C0"/>
                </a:solidFill>
                <a:latin typeface="Calibri"/>
              </a:rPr>
              <a:t>@SIH Idea submission 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&lt;TEAM NAME (as registered on portal)&gt;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164592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8EA3C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Detection: </a:t>
            </a:r>
            <a:r>
              <a:rPr sz="1300" b="0">
                <a:solidFill>
                  <a:srgbClr val="8EA3C0"/>
                </a:solidFill>
                <a:latin typeface="Calibri"/>
              </a:rPr>
              <a:t>YOLO11n + bundled P2 (stride-4) head - the single largest accuracy change for sub-8 px targets (0.0009 -&gt; 0.234 mAP50, 260x); thermal trained with radiometric augmentation; ONNX opset 12 -&gt; INT8 w8a8 QNN for Hexagon behind a &gt;=97% recall-retention gate.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Physics gates (the trust layer): </a:t>
            </a:r>
            <a:r>
              <a:rPr sz="1300" b="0">
                <a:solidFill>
                  <a:srgbClr val="8EA3C0"/>
                </a:solidFill>
                <a:latin typeface="Calibri"/>
              </a:rPr>
              <a:t>radiometric test (body 30-37 C vs flood water 15 C; sun-heated roofs rejected), projected-extent geometry veto, two-pass confirmation (find at 45 m, confirm at 22 m), Platt-scaled confidences so the belief map composes probabilities.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Search strategy: </a:t>
            </a:r>
            <a:r>
              <a:rPr sz="1300" b="0">
                <a:solidFill>
                  <a:srgbClr val="8EA3C0"/>
                </a:solidFill>
                <a:latin typeface="Calibri"/>
              </a:rPr>
              <a:t>lawnmower lanes with spacing = sensor swath x detection-probability target (search theory); every negative observation lowers the belief map and drives re-visit.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Navigation: </a:t>
            </a:r>
            <a:r>
              <a:rPr sz="1300" b="0">
                <a:solidFill>
                  <a:srgbClr val="8EA3C0"/>
                </a:solidFill>
                <a:latin typeface="Calibri"/>
              </a:rPr>
              <a:t>EKF source-manager; phone VIO + lidar when GNSS is denied; position sigma monitored, sortie ends past 25 m.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Communications: </a:t>
            </a:r>
            <a:r>
              <a:rPr sz="1300" b="0">
                <a:solidFill>
                  <a:srgbClr val="8EA3C0"/>
                </a:solidFill>
                <a:latin typeface="Calibri"/>
              </a:rPr>
              <a:t>LoRa 900 MHz store-and-forward, 200-byte acked packets; ELRS is control-only so the alert path never depends on it.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Safety: </a:t>
            </a:r>
            <a:r>
              <a:rPr sz="1300" b="0">
                <a:solidFill>
                  <a:srgbClr val="8EA3C0"/>
                </a:solidFill>
                <a:latin typeface="Calibri"/>
              </a:rPr>
              <a:t>12-rule supervisor (25% reserve, geofence, wind, telemetry silence) outranks the mission.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Stack: </a:t>
            </a:r>
            <a:r>
              <a:rPr sz="1300" b="0">
                <a:solidFill>
                  <a:srgbClr val="8EA3C0"/>
                </a:solidFill>
                <a:latin typeface="Calibri"/>
              </a:rPr>
              <a:t>Python - ArduPilot/MAVLink - ONNX Runtime + QNN - ultralytics fine-tune on a free Kaggle T4 - datasets HIT-UAV / AIResQ / SARD.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DF8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EA3C0"/>
                </a:solidFill>
                <a:latin typeface="Calibri"/>
              </a:rPr>
              <a:t>@SIH Idea submission 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&lt;TEAM NAME (as registered on portal)&gt;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164592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8EA3C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Technical: </a:t>
            </a:r>
            <a:r>
              <a:rPr sz="1300" b="0">
                <a:solidFill>
                  <a:srgbClr val="8EA3C0"/>
                </a:solidFill>
                <a:latin typeface="Calibri"/>
              </a:rPr>
              <a:t>180+ automated tests pass; end-to-end simulated sorties today; phone bridge benchmarked on real hardware (15.0 fps RGB, 29.6 Hz VIO, 69 ms worst gap); ONNX + INT8 artefacts on disk; onboard budget 165 ms vs 500 ms available; every layer has a fallback.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Financial: </a:t>
            </a:r>
            <a:r>
              <a:rPr sz="1300" b="0">
                <a:solidFill>
                  <a:srgbClr val="8EA3C0"/>
                </a:solidFill>
                <a:latin typeface="Calibri"/>
              </a:rPr>
              <a:t>phone replaces Rs 35,000+ of bought subsystems; airframe ~Rs 40k; radiometric LWIR ~Rs 15-25k -&gt; under Rs 1 L per aircraft vs Rs 3 L+ conventional; zero cloud cost, all inference on-device.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Market: </a:t>
            </a:r>
            <a:r>
              <a:rPr sz="1300" b="0">
                <a:solidFill>
                  <a:srgbClr val="8EA3C0"/>
                </a:solidFill>
                <a:latin typeface="Calibri"/>
              </a:rPr>
              <a:t>every district control room already owns the compute (phones); no new supply chain for the AI.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Operational: </a:t>
            </a:r>
            <a:r>
              <a:rPr sz="1300" b="0">
                <a:solidFill>
                  <a:srgbClr val="8EA3C0"/>
                </a:solidFill>
                <a:latin typeface="Calibri"/>
              </a:rPr>
              <a:t>one-operator launch; crew training is one Android app; maintenance is Android updates.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26280"/>
            <a:ext cx="11155680" cy="36576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66344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POTENTIAL CHALLENGES AND RISKS  -&gt;  STRATEGIES FOR OVERCOMING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29200"/>
            <a:ext cx="11155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 b="1">
                <a:solidFill>
                  <a:srgbClr val="E5EDF8"/>
                </a:solidFill>
                <a:latin typeface="Calibri"/>
              </a:rPr>
              <a:t>LWIR lead time -&gt; </a:t>
            </a:r>
            <a:r>
              <a:rPr sz="1200" b="0">
                <a:solidFill>
                  <a:srgbClr val="8EA3C0"/>
                </a:solidFill>
                <a:latin typeface="Calibri"/>
              </a:rPr>
              <a:t>Boson 320 second source.   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 b="1">
                <a:solidFill>
                  <a:srgbClr val="E5EDF8"/>
                </a:solidFill>
                <a:latin typeface="Calibri"/>
              </a:rPr>
              <a:t>Small-target recall gap -&gt; </a:t>
            </a:r>
            <a:r>
              <a:rPr sz="1200" b="0">
                <a:solidFill>
                  <a:srgbClr val="8EA3C0"/>
                </a:solidFill>
                <a:latin typeface="Calibri"/>
              </a:rPr>
              <a:t>P2 head + 640x512 real-data fine-tune, already running on the free-GPU path.   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 b="1">
                <a:solidFill>
                  <a:srgbClr val="E5EDF8"/>
                </a:solidFill>
                <a:latin typeface="Calibri"/>
              </a:rPr>
              <a:t>INT8 accuracy loss -&gt; </a:t>
            </a:r>
            <a:r>
              <a:rPr sz="1200" b="0">
                <a:solidFill>
                  <a:srgbClr val="8EA3C0"/>
                </a:solidFill>
                <a:latin typeface="Calibri"/>
              </a:rPr>
              <a:t>w8a16 fallback behind the same &gt;=97% gate.   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 b="1">
                <a:solidFill>
                  <a:srgbClr val="E5EDF8"/>
                </a:solidFill>
                <a:latin typeface="Calibri"/>
              </a:rPr>
              <a:t>Monsoon window -&gt; </a:t>
            </a:r>
            <a:r>
              <a:rPr sz="1200" b="0">
                <a:solidFill>
                  <a:srgbClr val="8EA3C0"/>
                </a:solidFill>
                <a:latin typeface="Calibri"/>
              </a:rPr>
              <a:t>dry-season trials in Bihar.   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 b="1">
                <a:solidFill>
                  <a:srgbClr val="E5EDF8"/>
                </a:solidFill>
                <a:latin typeface="Calibri"/>
              </a:rPr>
              <a:t>No local GPU -&gt; </a:t>
            </a:r>
            <a:r>
              <a:rPr sz="1200" b="0">
                <a:solidFill>
                  <a:srgbClr val="8EA3C0"/>
                </a:solidFill>
                <a:latin typeface="Calibri"/>
              </a:rPr>
              <a:t>documented free-tier GPU runbook.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DF8"/>
                </a:solidFill>
                <a:latin typeface="Calibri"/>
              </a:rPr>
              <a:t>IMPACT AND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EA3C0"/>
                </a:solidFill>
                <a:latin typeface="Calibri"/>
              </a:rPr>
              <a:t>@SIH Idea submission 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&lt;TEAM NAME (as registered on portal)&gt;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164592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8EA3C0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55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2C55E"/>
                </a:solidFill>
                <a:latin typeface="Calibri"/>
              </a:rPr>
              <a:t>▸  </a:t>
            </a:r>
            <a:r>
              <a:rPr sz="1350" b="1">
                <a:solidFill>
                  <a:srgbClr val="E5EDF8"/>
                </a:solidFill>
                <a:latin typeface="Calibri"/>
              </a:rPr>
              <a:t>Positive: </a:t>
            </a:r>
            <a:r>
              <a:rPr sz="1350" b="0">
                <a:solidFill>
                  <a:srgbClr val="8EA3C0"/>
                </a:solidFill>
                <a:latin typeface="Calibri"/>
              </a:rPr>
              <a:t>first-hour coverage at machine speed (9 ha per 10-minute pass); measured precision 1.000 - zero false alarms, so ground teams stop climbing wrong rooftops; LWIR works at night, through smoke, under canopy; verified reports survive total network loss.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2C55E"/>
                </a:solidFill>
                <a:latin typeface="Calibri"/>
              </a:rPr>
              <a:t>▸  </a:t>
            </a:r>
            <a:r>
              <a:rPr sz="1350" b="1">
                <a:solidFill>
                  <a:srgbClr val="E5EDF8"/>
                </a:solidFill>
                <a:latin typeface="Calibri"/>
              </a:rPr>
              <a:t>Negative, named and mitigated: </a:t>
            </a:r>
            <a:r>
              <a:rPr sz="1350" b="0">
                <a:solidFill>
                  <a:srgbClr val="8EA3C0"/>
                </a:solidFill>
                <a:latin typeface="Calibri"/>
              </a:rPr>
              <a:t>technology-adoption risk -&gt; phone-first design, one app, heuristic fallback so a missing model never grounds the aircraft; LWIR cost -&gt; offset by the phone's Rs 35k substitution.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BENEFITS OF 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11155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38BDF8"/>
                </a:solidFill>
                <a:latin typeface="Calibri"/>
              </a:rPr>
              <a:t>▸  </a:t>
            </a:r>
            <a:r>
              <a:rPr sz="1350" b="1">
                <a:solidFill>
                  <a:srgbClr val="E5EDF8"/>
                </a:solidFill>
                <a:latin typeface="Calibri"/>
              </a:rPr>
              <a:t>Social: </a:t>
            </a:r>
            <a:r>
              <a:rPr sz="1350" b="0">
                <a:solidFill>
                  <a:srgbClr val="8EA3C0"/>
                </a:solidFill>
                <a:latin typeface="Calibri"/>
              </a:rPr>
              <a:t>golden-hour rescues reached in the golden hour; rescuers routed around hazards (A* over the flood field); equity - district-affordable, not metro-affordable.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38BDF8"/>
                </a:solidFill>
                <a:latin typeface="Calibri"/>
              </a:rPr>
              <a:t>▸  </a:t>
            </a:r>
            <a:r>
              <a:rPr sz="1350" b="1">
                <a:solidFill>
                  <a:srgbClr val="E5EDF8"/>
                </a:solidFill>
                <a:latin typeface="Calibri"/>
              </a:rPr>
              <a:t>Economic: </a:t>
            </a:r>
            <a:r>
              <a:rPr sz="1350" b="0">
                <a:solidFill>
                  <a:srgbClr val="8EA3C0"/>
                </a:solidFill>
                <a:latin typeface="Calibri"/>
              </a:rPr>
              <a:t>Rs 0 compute payload; one airframe re-tasked across flood, wildfire, landslide and coastal SAR by swapping modality weights, not mission code.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38BDF8"/>
                </a:solidFill>
                <a:latin typeface="Calibri"/>
              </a:rPr>
              <a:t>▸  </a:t>
            </a:r>
            <a:r>
              <a:rPr sz="1350" b="1">
                <a:solidFill>
                  <a:srgbClr val="E5EDF8"/>
                </a:solidFill>
                <a:latin typeface="Calibri"/>
              </a:rPr>
              <a:t>Environmental: </a:t>
            </a:r>
            <a:r>
              <a:rPr sz="1350" b="0">
                <a:solidFill>
                  <a:srgbClr val="8EA3C0"/>
                </a:solidFill>
                <a:latin typeface="Calibri"/>
              </a:rPr>
              <a:t>electric airframe replaces helicopter search hours; minimal noise over distressed communities.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DF8"/>
                </a:solidFill>
                <a:latin typeface="Calibri"/>
              </a:rPr>
              <a:t>RESEARCH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EA3C0"/>
                </a:solidFill>
                <a:latin typeface="Calibri"/>
              </a:rPr>
              <a:t>@SIH Idea submission 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&lt;TEAM NAME (as registered on portal)&gt;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164592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8EA3C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Datasets studied: </a:t>
            </a:r>
            <a:r>
              <a:rPr sz="1300" b="0">
                <a:solidFill>
                  <a:srgbClr val="8EA3C0"/>
                </a:solidFill>
                <a:latin typeface="Calibri"/>
              </a:rPr>
              <a:t>HIT-UAV (2,898 aerial LWIR frames) - AIResQ (airborne thermal SAR; source of the honest mAP50 ~ 0.55 ceiling) - SARD (1,981 SAR postures) - VisDrone - HERIDAL - RescueNet.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Literature: </a:t>
            </a:r>
            <a:r>
              <a:rPr sz="1300" b="0">
                <a:solidFill>
                  <a:srgbClr val="8EA3C0"/>
                </a:solidFill>
                <a:latin typeface="Calibri"/>
              </a:rPr>
              <a:t>MDPI J. Imaging 11(12):436 - 75k-image aerial-thermal benchmark: RT-DETR-L 5.0% vs YOLO 10.7-11.6% AP on small objects (why we fly a CNN, not a transformer) - Ultralytics YOLO11 benchmarks - Koopman search theory - Platt (1999) probability calibration.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Existing solutions and our difference: </a:t>
            </a:r>
            <a:r>
              <a:rPr sz="1300" b="0">
                <a:solidFill>
                  <a:srgbClr val="8EA3C0"/>
                </a:solidFill>
                <a:latin typeface="Calibri"/>
              </a:rPr>
              <a:t>commercial thermal drones = human-watched video, no autonomy, no rejection of false alarms; research UAV SAR = RGB-only or cloud-dependent; ours = on-device radiometric detection + physics gates + phone-borne compute, every claim traceable to a checksummed artefact in our repository.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72000"/>
            <a:ext cx="11155680" cy="36576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7091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292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>
                <a:solidFill>
                  <a:srgbClr val="E5EDF8"/>
                </a:solidFill>
                <a:latin typeface="Calibri"/>
              </a:rPr>
              <a:t>&lt;Member 1&gt; AI/perception  ·  &lt;Member 2&gt; flight &amp; safety  ·  &lt;Member 3&gt; comms &amp; GCS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>
                <a:solidFill>
                  <a:srgbClr val="E5EDF8"/>
                </a:solidFill>
                <a:latin typeface="Calibri"/>
              </a:rPr>
              <a:t>&lt;Member 4&gt; mobile bridge  ·  &lt;Member 5&gt; airframe &amp; power  ·  &lt;Member 6&gt; data &amp; field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Contact: &lt;email&gt;   ·   Thank you - live demo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